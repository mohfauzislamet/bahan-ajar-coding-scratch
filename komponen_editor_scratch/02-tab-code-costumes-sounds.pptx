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0"/>
          </a:xfrm>
          <a:prstGeom prst="rect">
            <a:avLst/>
          </a:prstGeom>
          <a:solidFill>
            <a:srgbClr val="4D9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D7E8FF"/>
                </a:solidFill>
                <a:latin typeface="Arial"/>
              </a:rPr>
              <a:t>MODUL 2  ·  KOMPONEN EDITOR SCRATCH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Arial"/>
              </a:rPr>
              <a:t>Tab Code / Costumes / Sounds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8892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E4EFFF"/>
                </a:solidFill>
                <a:latin typeface="Arial"/>
              </a:rPr>
              <a:t>Letak: kiri atas, tepat di bawah Menu Bar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61772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Tiga ruang kerja yang dimiliki setiap sprite.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44068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Estimasi 10 menit  ·  Jenjang SD kelas 5 - SMP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D9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DE1FF"/>
                </a:solidFill>
                <a:latin typeface="Arial"/>
              </a:rPr>
              <a:t>TAB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Tujuan Pembelajaran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94415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1.  Menjelaskan bahwa setiap sprite punya tiga ruang kerja.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2.  Berpindah antar tab dengan tepat sesuai kebutuhan.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3.  Menyadari bahwa isi ketiga tab berubah mengikuti sprite yang sedang dipilih.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Tab Code / Costumes / Sounds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D9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DE1FF"/>
                </a:solidFill>
                <a:latin typeface="Arial"/>
              </a:rPr>
              <a:t>TAB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Letak di Layar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11094415" cy="2046223"/>
          </a:xfrm>
          <a:prstGeom prst="roundRect">
            <a:avLst>
              <a:gd name="adj" fmla="val 6000"/>
            </a:avLst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527048"/>
            <a:ext cx="10582351" cy="17353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Courier New"/>
              </a:rPr>
              <a:t>   +----------+ +------------+ +----------+</a:t>
            </a:r>
          </a:p>
          <a:p>
            <a:pPr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Courier New"/>
              </a:rPr>
              <a:t>   |   Code   | |  Costumes  | |  Sounds  |</a:t>
            </a:r>
          </a:p>
          <a:p>
            <a:pPr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Courier New"/>
              </a:rPr>
              <a:t>   +----------+ +------------+ +----------+</a:t>
            </a:r>
          </a:p>
          <a:p>
            <a:pPr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Courier New"/>
              </a:rPr>
              <a:t>      AKTIF</a:t>
            </a:r>
          </a:p>
          <a:p>
            <a:pPr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Courier New"/>
              </a:rPr>
              <a:t> </a:t>
            </a:r>
          </a:p>
          <a:p>
            <a:pPr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Courier New"/>
              </a:rPr>
              <a:t>   "Apa yang        "Bagaimana        "Suara apa</a:t>
            </a:r>
          </a:p>
          <a:p>
            <a:pPr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Courier New"/>
              </a:rPr>
              <a:t>    DILAKUKAN        RUPA sprite       yang DIMILIKI</a:t>
            </a:r>
          </a:p>
          <a:p>
            <a:pPr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Courier New"/>
              </a:rPr>
              <a:t>    sprite ini?"     ini?"             sprite ini?"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646423"/>
            <a:ext cx="11094415" cy="731520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783583"/>
            <a:ext cx="1063721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Isi ketiga tab menempel pada SPRITE, bukan pada proyek. Ganti sprite, isinya ikut berganti.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Tab Code / Costumes / Sounds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D9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DE1FF"/>
                </a:solidFill>
                <a:latin typeface="Arial"/>
              </a:rPr>
              <a:t>TAB  ·  BAGIAN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Konsep kunci yang sering terlewat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840480" cy="329184"/>
          </a:xfrm>
          <a:prstGeom prst="roundRect">
            <a:avLst>
              <a:gd name="adj" fmla="val 6000"/>
            </a:avLst>
          </a:prstGeom>
          <a:solidFill>
            <a:srgbClr val="E6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4D97FF"/>
                </a:solidFill>
                <a:latin typeface="Arial"/>
              </a:rPr>
              <a:t>Sumber kebingungan nomor satu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585216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1F2433"/>
                </a:solidFill>
                <a:latin typeface="Arial"/>
              </a:rPr>
              <a:t>Isi ketiga tab menempel pada SPRITE, bukan pada proyek.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828800"/>
            <a:ext cx="4876495" cy="2029968"/>
          </a:xfrm>
          <a:prstGeom prst="roundRect">
            <a:avLst>
              <a:gd name="adj" fmla="val 6000"/>
            </a:avLst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67728" y="1984248"/>
            <a:ext cx="4474159" cy="1719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F2433"/>
                </a:solidFill>
                <a:latin typeface="Courier New"/>
              </a:rPr>
              <a:t>Pilih Sprite2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F2433"/>
                </a:solidFill>
                <a:latin typeface="Courier New"/>
              </a:rPr>
              <a:t>  -&gt; tab Code kosong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F2433"/>
                </a:solidFill>
                <a:latin typeface="Courier New"/>
              </a:rPr>
              <a:t> 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F2433"/>
                </a:solidFill>
                <a:latin typeface="Courier New"/>
              </a:rPr>
              <a:t>Bukan berarti kode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F2433"/>
                </a:solidFill>
                <a:latin typeface="Courier New"/>
              </a:rPr>
              <a:t>Sprite1 terhapus!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F2433"/>
                </a:solidFill>
                <a:latin typeface="Courier New"/>
              </a:rPr>
              <a:t> 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F2433"/>
                </a:solidFill>
                <a:latin typeface="Courier New"/>
              </a:rPr>
              <a:t>Pilih Sprite1 lagi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F2433"/>
                </a:solidFill>
                <a:latin typeface="Courier New"/>
              </a:rPr>
              <a:t>  -&gt; kodenya muncul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6000"/>
            </a:avLst>
          </a:prstGeom>
          <a:solidFill>
            <a:srgbClr val="FF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440680"/>
            <a:ext cx="10637215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B3261E"/>
                </a:solidFill>
                <a:latin typeface="Arial"/>
              </a:rPr>
              <a:t>PERHATIAN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Inilah penyebab keluhan klasik "Pak, kode saya hilang!" — padahal hanya salah memilih sprite. Biasakan siswa melihat sprite mana yang bersorot ungu.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Tab Code / Costumes / Sounds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D9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DE1FF"/>
                </a:solidFill>
                <a:latin typeface="Arial"/>
              </a:rPr>
              <a:t>TAB  ·  BAGIAN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Tab Code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840480" cy="329184"/>
          </a:xfrm>
          <a:prstGeom prst="roundRect">
            <a:avLst>
              <a:gd name="adj" fmla="val 6000"/>
            </a:avLst>
          </a:prstGeom>
          <a:solidFill>
            <a:srgbClr val="E6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4D97FF"/>
                </a:solidFill>
                <a:latin typeface="Arial"/>
              </a:rPr>
              <a:t>Ruang utama pemrograman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1094415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1F2433"/>
                </a:solidFill>
                <a:latin typeface="Arial"/>
              </a:rPr>
              <a:t>Tempat menyusun blok menjadi script.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RINCIAN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•  Berisi selektor kategori blok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•  Palet blok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•  Area kode (kanvas)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440680"/>
            <a:ext cx="10637215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B26A00"/>
                </a:solidFill>
                <a:latin typeface="Arial"/>
              </a:rPr>
              <a:t>CATATAN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Dibahas rinci di modul 3, 4, dan 5.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Tab Code / Costumes / Sounds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D9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DE1FF"/>
                </a:solidFill>
                <a:latin typeface="Arial"/>
              </a:rPr>
              <a:t>TAB  ·  BAGIAN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Tab Costumes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840480" cy="329184"/>
          </a:xfrm>
          <a:prstGeom prst="roundRect">
            <a:avLst>
              <a:gd name="adj" fmla="val 6000"/>
            </a:avLst>
          </a:prstGeom>
          <a:solidFill>
            <a:srgbClr val="E6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4D97FF"/>
                </a:solidFill>
                <a:latin typeface="Arial"/>
              </a:rPr>
              <a:t>Rupa sprite + Paint Editor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1094415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1F2433"/>
                </a:solidFill>
                <a:latin typeface="Arial"/>
              </a:rPr>
              <a:t>Mengelola daftar kostum sprite dan menggambarnya.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RINCIAN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•  Urutan kostum menentukan hasil blok next costume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•  4 cara menambah: pustaka, gambar sendiri, acak, unggah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•  Mode Vector (tajam saat diperbesar) atau Bitmap (berbasis piksel)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•  Klik kanan kostum untuk menduplikasi / menghapus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440680"/>
            <a:ext cx="10637215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B26A00"/>
                </a:solidFill>
                <a:latin typeface="Arial"/>
              </a:rPr>
              <a:t>CATATAN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Setiap sprite WAJIB punya minimal satu kostum. Bila Stage yang dipilih, tab ini berganti nama menjadi Backdrops.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Tab Code / Costumes / Sounds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D9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DE1FF"/>
                </a:solidFill>
                <a:latin typeface="Arial"/>
              </a:rPr>
              <a:t>TAB  ·  BAGIAN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Tab Sounds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840480" cy="329184"/>
          </a:xfrm>
          <a:prstGeom prst="roundRect">
            <a:avLst>
              <a:gd name="adj" fmla="val 6000"/>
            </a:avLst>
          </a:prstGeom>
          <a:solidFill>
            <a:srgbClr val="E6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4D97FF"/>
                </a:solidFill>
                <a:latin typeface="Arial"/>
              </a:rPr>
              <a:t>Suara sprite + Sound Editor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1094415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1F2433"/>
                </a:solidFill>
                <a:latin typeface="Arial"/>
              </a:rPr>
              <a:t>Mengelola daftar suara sprite dan mengeditnya.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RINCIAN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•  Sumber: pustaka Scratch, REKAM sendiri lewat mikrofon, atau unggah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•  Potong &amp; salin: pilih bagian gelombang lalu Cut/Copy/Paste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•  9 efek: Faster, Slower, Louder, Softer, Fade In, Fade Out, Mute, Reverse, Robot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440680"/>
            <a:ext cx="10637215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B26A00"/>
                </a:solidFill>
                <a:latin typeface="Arial"/>
              </a:rPr>
              <a:t>CATATAN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Batasi rekaman siswa maksimal 5 detik — batas ukuran aset Scratch adalah 10 MB dan rekaman panjang membuat proyek berat.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Tab Code / Costumes / Sounds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D9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DE1FF"/>
                </a:solidFill>
                <a:latin typeface="Arial"/>
              </a:rPr>
              <a:t>TAB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Praktik di Kelas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94415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1.  Pilih Sprite1 &gt; buka tab Costumes &gt; klik costume2 &gt; amati kucing berubah pose.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2.  Buka tab Sounds &gt; klik tombol putar pada suara Meow.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3.  Rekam suaramu sendiri mengucapkan "Halo!" (Record), beri nama salam.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4.  Kembali ke tab Code. Pastikan siswa paham ketiganya milik sprite yang sama.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5440680"/>
            <a:ext cx="11094415" cy="731520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559552"/>
            <a:ext cx="1063721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Alokasi 7 menit.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Tab Code / Costumes / Sounds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D9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7E8FF"/>
                </a:solidFill>
                <a:latin typeface="Arial"/>
              </a:rPr>
              <a:t>ANALOGI UNTUK SISWA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11094415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0"/>
              </a:spcAft>
            </a:pPr>
            <a:r>
              <a:rPr sz="2400" b="0" i="0">
                <a:solidFill>
                  <a:srgbClr val="FFFFFF"/>
                </a:solidFill>
                <a:latin typeface="Arial"/>
              </a:rPr>
              <a:t>Bayangkan sprite adalah seorang AKTOR: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0"/>
              </a:spcAft>
            </a:pPr>
            <a:r>
              <a:rPr sz="2400" b="0" i="0">
                <a:solidFill>
                  <a:srgbClr val="FFFFFF"/>
                </a:solidFill>
                <a:latin typeface="Arial"/>
              </a:rPr>
              <a:t>Code = naskah — apa yang harus dia lakukan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0"/>
              </a:spcAft>
            </a:pPr>
            <a:r>
              <a:rPr sz="2400" b="0" i="0">
                <a:solidFill>
                  <a:srgbClr val="FFFFFF"/>
                </a:solidFill>
                <a:latin typeface="Arial"/>
              </a:rPr>
              <a:t>Costumes = lemari kostum — pakaian yang bisa dia kenakan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0"/>
              </a:spcAft>
            </a:pPr>
            <a:r>
              <a:rPr sz="2400" b="0" i="0">
                <a:solidFill>
                  <a:srgbClr val="FFFFFF"/>
                </a:solidFill>
                <a:latin typeface="Arial"/>
              </a:rPr>
              <a:t>Sounds = pita suara — suara yang bisa dia keluarkan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D9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DE1FF"/>
                </a:solidFill>
                <a:latin typeface="Arial"/>
              </a:rPr>
              <a:t>TAB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Kesalahan Umum di Kelas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94413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2101"/>
                <a:gridCol w="3661156"/>
                <a:gridCol w="3661156"/>
              </a:tblGrid>
              <a:tr h="41148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Kesalahan</a:t>
                      </a:r>
                    </a:p>
                  </a:txBody>
                  <a:tcPr marL="109728" marR="109728" anchor="ctr">
                    <a:solidFill>
                      <a:srgbClr val="4D97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Akibat</a:t>
                      </a:r>
                    </a:p>
                  </a:txBody>
                  <a:tcPr marL="109728" marR="109728" anchor="ctr">
                    <a:solidFill>
                      <a:srgbClr val="4D97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Pencegahan</a:t>
                      </a:r>
                    </a:p>
                  </a:txBody>
                  <a:tcPr marL="109728" marR="109728" anchor="ctr">
                    <a:solidFill>
                      <a:srgbClr val="4D97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Membuat kode di sprite yang salah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Kode "hilang" atau sprite tak bergerak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Lihat sprite mana yang bersorot ungu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Menghapus semua kostum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Sprite tak bisa ditampilkan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Ingatkan minimal satu kostum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Merekam suara terlalu panjang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Ukuran proyek membengkak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Batasi rekaman maksimal 5 detik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Bingung mencari Costumes saat Stage dipilih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Tab berganti jadi Backdrops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Jelaskan pengecualian ini sekali di awal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Tab Code / Costumes / Sounds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D9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DE1FF"/>
                </a:solidFill>
                <a:latin typeface="Arial"/>
              </a:rPr>
              <a:t>TAB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Cek Pemahaman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94415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1.  Kamu memilih Sprite2, lalu tab Code tampak kosong. Apakah kode Sprite1 terhapus?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2.  Di tab mana kamu merekam suaramu sendiri?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3.  Saat Stage dipilih, tab Costumes berubah menjadi apa? Mengapa?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Tab Code / Costumes / Sounds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D9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DE1FF"/>
                </a:solidFill>
                <a:latin typeface="Arial"/>
              </a:rPr>
              <a:t>TAB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Kunci Jawaban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94415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 i="0">
                <a:solidFill>
                  <a:srgbClr val="1F2433"/>
                </a:solidFill>
                <a:latin typeface="Arial"/>
              </a:rPr>
              <a:t>1.  Tidak. Setiap sprite punya area kode sendiri. Pilih kembali Sprite1 maka kodenya muncul lagi.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 i="0">
                <a:solidFill>
                  <a:srgbClr val="1F2433"/>
                </a:solidFill>
                <a:latin typeface="Arial"/>
              </a:rPr>
              <a:t>2.  Tab Sounds, dengan tombol Record.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 i="0">
                <a:solidFill>
                  <a:srgbClr val="1F2433"/>
                </a:solidFill>
                <a:latin typeface="Arial"/>
              </a:rPr>
              <a:t>3.  Menjadi Backdrops, karena Stage tidak memakai kostum melainkan latar belakang.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Tab Code / Costumes / Sounds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D9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4884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D7E8FF"/>
                </a:solidFill>
                <a:latin typeface="Arial"/>
              </a:rPr>
              <a:t>RANGKUMAN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0"/>
            <a:ext cx="11094415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</a:pPr>
            <a:r>
              <a:rPr sz="1900" b="0" i="0">
                <a:solidFill>
                  <a:srgbClr val="FFFFFF"/>
                </a:solidFill>
                <a:latin typeface="Arial"/>
              </a:rPr>
              <a:t>•  Code, Costumes, Sounds adalah tiga sisi dari SATU sprite yang sama.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</a:pPr>
            <a:r>
              <a:rPr sz="1900" b="0" i="0">
                <a:solidFill>
                  <a:srgbClr val="FFFFFF"/>
                </a:solidFill>
                <a:latin typeface="Arial"/>
              </a:rPr>
              <a:t>•  Isi ketiga tab menempel pada sprite — ganti sprite, isinya ikut berganti.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</a:pPr>
            <a:r>
              <a:rPr sz="1900" b="0" i="0">
                <a:solidFill>
                  <a:srgbClr val="FFFFFF"/>
                </a:solidFill>
                <a:latin typeface="Arial"/>
              </a:rPr>
              <a:t>•  Stage tidak punya Costumes, melainkan Backdrops.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