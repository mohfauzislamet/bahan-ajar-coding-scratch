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881360" cy="5577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43000"/>
            <a:ext cx="3840480" cy="1296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523067"/>
            <a:ext cx="103327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E2A45"/>
                </a:solidFill>
                <a:latin typeface="Arial"/>
              </a:rPr>
              <a:t>PENGENALAN CODING DASAR</a:t>
            </a:r>
          </a:p>
          <a:p>
            <a:pPr algn="ctr">
              <a:lnSpc>
                <a:spcPct val="100000"/>
              </a:lnSpc>
            </a:pPr>
            <a:r>
              <a:rPr sz="6200" b="1">
                <a:solidFill>
                  <a:srgbClr val="4C97FF"/>
                </a:solidFill>
                <a:latin typeface="Arial"/>
              </a:rPr>
              <a:t>SCRATCH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590288"/>
            <a:ext cx="3200400" cy="566928"/>
          </a:xfrm>
          <a:prstGeom prst="round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4626864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UNTUK SISWA SMP</a:t>
            </a:r>
          </a:p>
        </p:txBody>
      </p:sp>
      <p:pic>
        <p:nvPicPr>
          <p:cNvPr id="9" name="Picture 8" descr="cat_spr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2976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Tujuan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59C059"/>
                </a:solidFill>
                <a:latin typeface="Arial"/>
              </a:rPr>
              <a:t>✔  </a:t>
            </a:r>
            <a:r>
              <a:rPr sz="2200" b="0">
                <a:solidFill>
                  <a:srgbClr val="2E3A59"/>
                </a:solidFill>
                <a:latin typeface="Arial"/>
              </a:rPr>
              <a:t>Memahami apa itu coding dan mengapa penting dipelajari.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59C059"/>
                </a:solidFill>
                <a:latin typeface="Arial"/>
              </a:rPr>
              <a:t>✔  </a:t>
            </a:r>
            <a:r>
              <a:rPr sz="2200" b="0">
                <a:solidFill>
                  <a:srgbClr val="2E3A59"/>
                </a:solidFill>
                <a:latin typeface="Arial"/>
              </a:rPr>
              <a:t>Mengenal Scratch sebagai bahasa pemrograman visual buatan MIT (Massachusetts Institute of Technology).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59C059"/>
                </a:solidFill>
                <a:latin typeface="Arial"/>
              </a:rPr>
              <a:t>✔  </a:t>
            </a:r>
            <a:r>
              <a:rPr sz="2200" b="0">
                <a:solidFill>
                  <a:srgbClr val="2E3A59"/>
                </a:solidFill>
                <a:latin typeface="Arial"/>
              </a:rPr>
              <a:t>Mengenal bagian-bagian antarmuka (interface) Scratch.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59C059"/>
                </a:solidFill>
                <a:latin typeface="Arial"/>
              </a:rPr>
              <a:t>✔  </a:t>
            </a:r>
            <a:r>
              <a:rPr sz="2200" b="0">
                <a:solidFill>
                  <a:srgbClr val="2E3A59"/>
                </a:solidFill>
                <a:latin typeface="Arial"/>
              </a:rPr>
              <a:t>Memahami konsep dasar: sequence, loop, dan percabangan (if).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59C059"/>
                </a:solidFill>
                <a:latin typeface="Arial"/>
              </a:rPr>
              <a:t>✔  </a:t>
            </a:r>
            <a:r>
              <a:rPr sz="2200" b="0">
                <a:solidFill>
                  <a:srgbClr val="2E3A59"/>
                </a:solidFill>
                <a:latin typeface="Arial"/>
              </a:rPr>
              <a:t>Membuat program sederhana pertama: sprite bergerak &amp; berbicara.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D"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lang="en-ID"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966FF"/>
                </a:solidFill>
                <a:latin typeface="Arial"/>
              </a:rPr>
              <a:t>PETA MATERI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Apa Saja yang Kita Pelajari?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517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51760" cy="822960"/>
          </a:xfrm>
          <a:prstGeom prst="round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2860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E2A45"/>
                </a:solidFill>
                <a:latin typeface="Arial"/>
              </a:rPr>
              <a:t>Pengenalan</a:t>
            </a:r>
          </a:p>
          <a:p>
            <a:pPr algn="ctr">
              <a:lnSpc>
                <a:spcPct val="100000"/>
              </a:lnSpc>
            </a:pPr>
            <a:endParaRPr sz="2100" b="1">
              <a:solidFill>
                <a:srgbClr val="1E2A45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B7A90"/>
                </a:solidFill>
                <a:latin typeface="Arial"/>
              </a:rPr>
              <a:t>Coding &amp; Scratch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103120"/>
            <a:ext cx="26517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10712" y="2103120"/>
            <a:ext cx="2651760" cy="822960"/>
          </a:xfrm>
          <a:prstGeom prst="round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2212848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108960"/>
            <a:ext cx="22860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E2A45"/>
                </a:solidFill>
                <a:latin typeface="Arial"/>
              </a:rPr>
              <a:t>Antarmuka</a:t>
            </a:r>
          </a:p>
          <a:p>
            <a:pPr algn="ctr">
              <a:lnSpc>
                <a:spcPct val="100000"/>
              </a:lnSpc>
            </a:pPr>
            <a:endParaRPr sz="2100" b="1">
              <a:solidFill>
                <a:srgbClr val="1E2A45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B7A90"/>
                </a:solidFill>
                <a:latin typeface="Arial"/>
              </a:rPr>
              <a:t>Bagian-bagian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103120"/>
            <a:ext cx="26517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9C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103120"/>
            <a:ext cx="2651760" cy="822960"/>
          </a:xfrm>
          <a:prstGeom prst="round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2212848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08960"/>
            <a:ext cx="22860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E2A45"/>
                </a:solidFill>
                <a:latin typeface="Arial"/>
              </a:rPr>
              <a:t>Blok &amp; Konsep</a:t>
            </a:r>
          </a:p>
          <a:p>
            <a:pPr algn="ctr">
              <a:lnSpc>
                <a:spcPct val="100000"/>
              </a:lnSpc>
            </a:pPr>
            <a:endParaRPr sz="2100" b="1">
              <a:solidFill>
                <a:srgbClr val="1E2A45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B7A90"/>
                </a:solidFill>
                <a:latin typeface="Arial"/>
              </a:rPr>
              <a:t>Sequence, loop, 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103120"/>
            <a:ext cx="26517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51976" y="2103120"/>
            <a:ext cx="2651760" cy="822960"/>
          </a:xfrm>
          <a:prstGeom prst="round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51976" y="2212848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3108960"/>
            <a:ext cx="22860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E2A45"/>
                </a:solidFill>
                <a:latin typeface="Arial"/>
              </a:rPr>
              <a:t>Praktik</a:t>
            </a:r>
          </a:p>
          <a:p>
            <a:pPr algn="ctr">
              <a:lnSpc>
                <a:spcPct val="100000"/>
              </a:lnSpc>
            </a:pPr>
            <a:endParaRPr sz="2100" b="1">
              <a:solidFill>
                <a:srgbClr val="1E2A45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B7A90"/>
                </a:solidFill>
                <a:latin typeface="Arial"/>
              </a:rPr>
              <a:t>Program pertama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D"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lang="en-ID"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KONSEP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Apa itu Coding?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2743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C97FF"/>
                </a:solidFill>
                <a:latin typeface="Arial"/>
              </a:rPr>
              <a:t>Coding</a:t>
            </a:r>
            <a:r>
              <a:rPr sz="2400" b="0">
                <a:solidFill>
                  <a:srgbClr val="2E3A59"/>
                </a:solidFill>
                <a:latin typeface="Arial"/>
              </a:rPr>
              <a:t> adalah cara kita </a:t>
            </a:r>
          </a:p>
          <a:p>
            <a:pPr algn="l">
              <a:lnSpc>
                <a:spcPct val="110000"/>
              </a:lnSpc>
            </a:pPr>
            <a:r>
              <a:rPr sz="2400" b="0">
                <a:solidFill>
                  <a:srgbClr val="2E3A59"/>
                </a:solidFill>
                <a:latin typeface="Arial"/>
              </a:rPr>
              <a:t>memberi </a:t>
            </a:r>
            <a:r>
              <a:rPr sz="2400" b="1">
                <a:solidFill>
                  <a:srgbClr val="FF8C1A"/>
                </a:solidFill>
                <a:latin typeface="Arial"/>
              </a:rPr>
              <a:t>perintah/instruksi</a:t>
            </a:r>
          </a:p>
          <a:p>
            <a:pPr algn="l">
              <a:lnSpc>
                <a:spcPct val="110000"/>
              </a:lnSpc>
            </a:pPr>
            <a:r>
              <a:rPr sz="2400" b="0">
                <a:solidFill>
                  <a:srgbClr val="2E3A59"/>
                </a:solidFill>
                <a:latin typeface="Arial"/>
              </a:rPr>
              <a:t>kepada komputer agar melakukan</a:t>
            </a:r>
          </a:p>
          <a:p>
            <a:pPr algn="l">
              <a:lnSpc>
                <a:spcPct val="110000"/>
              </a:lnSpc>
            </a:pPr>
            <a:r>
              <a:rPr sz="2400" b="0">
                <a:solidFill>
                  <a:srgbClr val="2E3A59"/>
                </a:solidFill>
                <a:latin typeface="Arial"/>
              </a:rPr>
              <a:t>sesuatu.</a:t>
            </a:r>
          </a:p>
          <a:p>
            <a:pPr algn="l">
              <a:lnSpc>
                <a:spcPct val="110000"/>
              </a:lnSpc>
            </a:pPr>
            <a:endParaRPr sz="24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6B7A90"/>
                </a:solidFill>
                <a:latin typeface="Arial"/>
              </a:rPr>
              <a:t>Sama seperti resep masakan —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6B7A90"/>
                </a:solidFill>
                <a:latin typeface="Arial"/>
              </a:rPr>
              <a:t>langkahnya harus urut dan jelas.</a:t>
            </a:r>
          </a:p>
        </p:txBody>
      </p:sp>
      <p:pic>
        <p:nvPicPr>
          <p:cNvPr id="7" name="Picture 6" descr="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852160" cy="27910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9C059"/>
                </a:solidFill>
                <a:latin typeface="Arial"/>
              </a:rPr>
              <a:t>KONSEP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Coding Ada di Sekitar Kita!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4C97FF"/>
                </a:solidFill>
                <a:latin typeface="Arial"/>
              </a:rPr>
              <a:t>🖥  </a:t>
            </a:r>
            <a:r>
              <a:rPr sz="2300" b="0">
                <a:solidFill>
                  <a:srgbClr val="2E3A59"/>
                </a:solidFill>
                <a:latin typeface="Arial"/>
              </a:rPr>
              <a:t>Game &amp; aplikasi di HP (Mobile Legends, TikTok, WhatsApp).</a:t>
            </a:r>
          </a:p>
          <a:p>
            <a:pPr algn="l">
              <a:lnSpc>
                <a:spcPct val="105000"/>
              </a:lnSpc>
            </a:pPr>
            <a:endParaRPr sz="23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300" b="1">
                <a:solidFill>
                  <a:srgbClr val="4C97FF"/>
                </a:solidFill>
                <a:latin typeface="Arial"/>
              </a:rPr>
              <a:t>🖥  </a:t>
            </a:r>
            <a:r>
              <a:rPr sz="2300" b="0">
                <a:solidFill>
                  <a:srgbClr val="2E3A59"/>
                </a:solidFill>
                <a:latin typeface="Arial"/>
              </a:rPr>
              <a:t>Website yang kamu buka setiap hari.</a:t>
            </a:r>
          </a:p>
          <a:p>
            <a:pPr algn="l">
              <a:lnSpc>
                <a:spcPct val="105000"/>
              </a:lnSpc>
            </a:pPr>
            <a:endParaRPr sz="23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300" b="1">
                <a:solidFill>
                  <a:srgbClr val="4C97FF"/>
                </a:solidFill>
                <a:latin typeface="Arial"/>
              </a:rPr>
              <a:t>🖥  </a:t>
            </a:r>
            <a:r>
              <a:rPr sz="2300" b="0">
                <a:solidFill>
                  <a:srgbClr val="2E3A59"/>
                </a:solidFill>
                <a:latin typeface="Arial"/>
              </a:rPr>
              <a:t>Robot, mobil pintar, dan kecerdasan buatan (AI).</a:t>
            </a:r>
          </a:p>
          <a:p>
            <a:pPr algn="l">
              <a:lnSpc>
                <a:spcPct val="105000"/>
              </a:lnSpc>
            </a:pPr>
            <a:endParaRPr sz="23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300" b="1">
                <a:solidFill>
                  <a:srgbClr val="4C97FF"/>
                </a:solidFill>
                <a:latin typeface="Arial"/>
              </a:rPr>
              <a:t>🖥  </a:t>
            </a:r>
            <a:r>
              <a:rPr sz="2300" b="0">
                <a:solidFill>
                  <a:srgbClr val="2E3A59"/>
                </a:solidFill>
                <a:latin typeface="Arial"/>
              </a:rPr>
              <a:t>Lampu lalu lintas dan mesin ATM.</a:t>
            </a:r>
          </a:p>
          <a:p>
            <a:pPr algn="l">
              <a:lnSpc>
                <a:spcPct val="105000"/>
              </a:lnSpc>
            </a:pPr>
            <a:endParaRPr sz="2300" b="0">
              <a:solidFill>
                <a:srgbClr val="2E3A59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1005840"/>
          </a:xfrm>
          <a:prstGeom prst="round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E2A45"/>
                </a:solidFill>
                <a:latin typeface="Arial"/>
              </a:rPr>
              <a:t>Belajar coding = belajar berpikir logis &amp; memecahkan masalah 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  <a:endParaRPr lang="en-US" sz="1000" b="0" dirty="0">
              <a:solidFill>
                <a:srgbClr val="6B7A90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966FF"/>
                </a:solidFill>
                <a:latin typeface="Arial"/>
              </a:rPr>
              <a:t>MENGENAL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Apa itu Scratch?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20240"/>
            <a:ext cx="457200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621792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8C1A"/>
                </a:solidFill>
                <a:latin typeface="Arial"/>
              </a:rPr>
              <a:t>Scratch</a:t>
            </a:r>
            <a:r>
              <a:rPr sz="2200" b="0">
                <a:solidFill>
                  <a:srgbClr val="2E3A59"/>
                </a:solidFill>
                <a:latin typeface="Arial"/>
              </a:rPr>
              <a:t> adalah bahasa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2E3A59"/>
                </a:solidFill>
                <a:latin typeface="Arial"/>
              </a:rPr>
              <a:t>pemrograman </a:t>
            </a:r>
            <a:r>
              <a:rPr sz="2200" b="1">
                <a:solidFill>
                  <a:srgbClr val="4C97FF"/>
                </a:solidFill>
                <a:latin typeface="Arial"/>
              </a:rPr>
              <a:t>visual berbasis blok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2E3A59"/>
                </a:solidFill>
                <a:latin typeface="Arial"/>
              </a:rPr>
              <a:t>yang dibuat oleh </a:t>
            </a:r>
            <a:r>
              <a:rPr sz="2200" b="1">
                <a:solidFill>
                  <a:srgbClr val="2E3A59"/>
                </a:solidFill>
                <a:latin typeface="Arial"/>
              </a:rPr>
              <a:t>MIT</a:t>
            </a:r>
            <a:r>
              <a:rPr sz="2200" b="0">
                <a:solidFill>
                  <a:srgbClr val="2E3A59"/>
                </a:solidFill>
                <a:latin typeface="Arial"/>
              </a:rPr>
              <a:t> (Massachusetts Institute of Technology).</a:t>
            </a:r>
          </a:p>
          <a:p>
            <a:pPr algn="l">
              <a:lnSpc>
                <a:spcPct val="110000"/>
              </a:lnSpc>
            </a:pPr>
            <a:endParaRPr sz="2200" b="1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6B7A90"/>
                </a:solidFill>
                <a:latin typeface="Arial"/>
              </a:rPr>
              <a:t>Kita tidak perlu mengetik kode —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6B7A90"/>
                </a:solidFill>
                <a:latin typeface="Arial"/>
              </a:rPr>
              <a:t>cukup </a:t>
            </a:r>
            <a:r>
              <a:rPr sz="2000" b="1">
                <a:solidFill>
                  <a:srgbClr val="59C059"/>
                </a:solidFill>
                <a:latin typeface="Arial"/>
              </a:rPr>
              <a:t>menyeret &amp; menyatukan blok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6B7A90"/>
                </a:solidFill>
                <a:latin typeface="Arial"/>
              </a:rPr>
              <a:t>seperti menyusun puzzle / LEGO. 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  <a:endParaRPr lang="en-US" sz="1000" b="0" dirty="0">
              <a:solidFill>
                <a:srgbClr val="6B7A9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MENGENAL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Fakta Menarik tentang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51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9C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59C059"/>
                </a:solidFill>
                <a:latin typeface="Arial"/>
              </a:rPr>
              <a:t>GRATIS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337560"/>
            <a:ext cx="1005840" cy="54864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100% gratis untuk
semua orang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194560"/>
            <a:ext cx="2651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25146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C97FF"/>
                </a:solidFill>
                <a:latin typeface="Arial"/>
              </a:rPr>
              <a:t>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3337560"/>
            <a:ext cx="1005840" cy="54864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35204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Dibuat oleh MIT Media Lab
(Massachusetts Institute of Technology)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194560"/>
            <a:ext cx="2651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81344" y="25146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9966FF"/>
                </a:solidFill>
                <a:latin typeface="Arial"/>
              </a:rPr>
              <a:t>BROWSER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4304" y="3337560"/>
            <a:ext cx="1005840" cy="54864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35204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Bisa dipakai langsung
di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194560"/>
            <a:ext cx="2651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51976" y="25146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BF00"/>
                </a:solidFill>
                <a:latin typeface="Arial"/>
              </a:rPr>
              <a:t>PEMULA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74936" y="3337560"/>
            <a:ext cx="1005840" cy="54864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9136" y="35204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Cocok untuk anak
&amp; pemula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9C059"/>
                </a:solidFill>
                <a:latin typeface="Arial"/>
              </a:rPr>
              <a:t>MENGENAL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Kenapa Belajar Scratch?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BF00"/>
                </a:solidFill>
                <a:latin typeface="Arial"/>
              </a:rPr>
              <a:t>⭐  </a:t>
            </a:r>
            <a:r>
              <a:rPr sz="2200" b="0">
                <a:solidFill>
                  <a:srgbClr val="2E3A59"/>
                </a:solidFill>
                <a:latin typeface="Arial"/>
              </a:rPr>
              <a:t>Mudah — tidak perlu hafal sintaks/ketik kode.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BF00"/>
                </a:solidFill>
                <a:latin typeface="Arial"/>
              </a:rPr>
              <a:t>⭐  </a:t>
            </a:r>
            <a:r>
              <a:rPr sz="2200" b="0">
                <a:solidFill>
                  <a:srgbClr val="2E3A59"/>
                </a:solidFill>
                <a:latin typeface="Arial"/>
              </a:rPr>
              <a:t>Melatih logika &amp; kreativitas lewat membuat game/animasi.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BF00"/>
                </a:solidFill>
                <a:latin typeface="Arial"/>
              </a:rPr>
              <a:t>⭐  </a:t>
            </a:r>
            <a:r>
              <a:rPr sz="2200" b="0">
                <a:solidFill>
                  <a:srgbClr val="2E3A59"/>
                </a:solidFill>
                <a:latin typeface="Arial"/>
              </a:rPr>
              <a:t>Langsung terlihat hasilnya di panggung (visual).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BF00"/>
                </a:solidFill>
                <a:latin typeface="Arial"/>
              </a:rPr>
              <a:t>⭐  </a:t>
            </a:r>
            <a:r>
              <a:rPr sz="2200" b="0">
                <a:solidFill>
                  <a:srgbClr val="2E3A59"/>
                </a:solidFill>
                <a:latin typeface="Arial"/>
              </a:rPr>
              <a:t>Bekal awal sebelum belajar bahasa teks (Python, dll).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BF00"/>
                </a:solidFill>
                <a:latin typeface="Arial"/>
              </a:rPr>
              <a:t>⭐  </a:t>
            </a:r>
            <a:r>
              <a:rPr sz="2200" b="0">
                <a:solidFill>
                  <a:srgbClr val="2E3A59"/>
                </a:solidFill>
                <a:latin typeface="Arial"/>
              </a:rPr>
              <a:t>Seru &amp; bisa dibagikan ke teman secara online.</a:t>
            </a:r>
          </a:p>
          <a:p>
            <a:pPr algn="l">
              <a:lnSpc>
                <a:spcPct val="105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966FF"/>
                </a:solidFill>
                <a:latin typeface="Arial"/>
              </a:rPr>
              <a:t>PERSIAPAN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Cara Mengakses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3108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C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03520" cy="868680"/>
          </a:xfrm>
          <a:prstGeom prst="round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ONLINE  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75488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Buka browser, kunjungi:</a:t>
            </a:r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4C97FF"/>
                </a:solidFill>
                <a:latin typeface="Arial"/>
              </a:rPr>
              <a:t>scratch.mit.edu</a:t>
            </a:r>
          </a:p>
          <a:p>
            <a:pPr algn="l">
              <a:lnSpc>
                <a:spcPct val="110000"/>
              </a:lnSpc>
            </a:pPr>
            <a:endParaRPr sz="2400" b="1">
              <a:solidFill>
                <a:srgbClr val="4C97FF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Klik </a:t>
            </a:r>
            <a:r>
              <a:rPr sz="1600" b="1">
                <a:solidFill>
                  <a:srgbClr val="2E3A59"/>
                </a:solidFill>
                <a:latin typeface="Arial"/>
              </a:rPr>
              <a:t>“Buat / Create”</a:t>
            </a:r>
            <a:r>
              <a:rPr sz="1600" b="0">
                <a:solidFill>
                  <a:srgbClr val="6B7A90"/>
                </a:solidFill>
                <a:latin typeface="Arial"/>
              </a:rPr>
              <a:t> — langsung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bisa coding tanpa instal apa pun.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3108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9C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03520" cy="868680"/>
          </a:xfrm>
          <a:prstGeom prst="round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OFFLINE  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475488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Unduh </a:t>
            </a:r>
            <a:r>
              <a:rPr sz="1800" b="1">
                <a:solidFill>
                  <a:srgbClr val="59C059"/>
                </a:solidFill>
                <a:latin typeface="Arial"/>
              </a:rPr>
              <a:t>Scratch Desktop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dari situs resmi Scratch.</a:t>
            </a:r>
          </a:p>
          <a:p>
            <a:pPr algn="l">
              <a:lnSpc>
                <a:spcPct val="110000"/>
              </a:lnSpc>
            </a:pPr>
            <a:endParaRPr sz="18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Cocok bila internet terbatas —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bisa dipakai tanpa koneksi.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Mengenal Antarmuka Scratch</a:t>
            </a:r>
          </a:p>
        </p:txBody>
      </p:sp>
      <p:pic>
        <p:nvPicPr>
          <p:cNvPr id="6" name="Picture 5" descr="cat_sp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4805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ANTARMUKA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Beginilah Tampilan Editor Scratch</a:t>
            </a:r>
          </a:p>
        </p:txBody>
      </p:sp>
      <p:pic>
        <p:nvPicPr>
          <p:cNvPr id="6" name="Picture 5" descr="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600200"/>
            <a:ext cx="687628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Tampilan asli editor Scratch 3.0 (sumber: Wikimedia Commons)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6894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F00"/>
                </a:solidFill>
                <a:latin typeface="Arial"/>
              </a:rPr>
              <a:t>ANTARMUKA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5 Bagian Penting Editor Scratch</a:t>
            </a:r>
          </a:p>
        </p:txBody>
      </p:sp>
      <p:pic>
        <p:nvPicPr>
          <p:cNvPr id="6" name="Picture 5" descr="interfa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755" y="1463040"/>
            <a:ext cx="778212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9C059"/>
                </a:solidFill>
                <a:latin typeface="Arial"/>
              </a:rPr>
              <a:t>ANTARMUKA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Apa itu Sprite?</a:t>
            </a:r>
          </a:p>
        </p:txBody>
      </p:sp>
      <p:pic>
        <p:nvPicPr>
          <p:cNvPr id="6" name="Picture 5" descr="cat_sp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069080"/>
            <a:ext cx="20116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56692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8C1A"/>
                </a:solidFill>
                <a:latin typeface="Arial"/>
              </a:rPr>
              <a:t>Sprite</a:t>
            </a:r>
            <a:r>
              <a:rPr sz="2200" b="0">
                <a:solidFill>
                  <a:srgbClr val="2E3A59"/>
                </a:solidFill>
                <a:latin typeface="Arial"/>
              </a:rPr>
              <a:t> adalah </a:t>
            </a:r>
            <a:r>
              <a:rPr sz="2200" b="1">
                <a:solidFill>
                  <a:srgbClr val="4C97FF"/>
                </a:solidFill>
                <a:latin typeface="Arial"/>
              </a:rPr>
              <a:t>objek atau karakter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2E3A59"/>
                </a:solidFill>
                <a:latin typeface="Arial"/>
              </a:rPr>
              <a:t>di dalam proyek Scratch.</a:t>
            </a:r>
          </a:p>
          <a:p>
            <a:pPr algn="l">
              <a:lnSpc>
                <a:spcPct val="110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2E3A59"/>
                </a:solidFill>
                <a:latin typeface="Arial"/>
              </a:rPr>
              <a:t>• Sprite bisa diberi </a:t>
            </a:r>
            <a:r>
              <a:rPr sz="1900" b="1">
                <a:solidFill>
                  <a:srgbClr val="2E3A59"/>
                </a:solidFill>
                <a:latin typeface="Arial"/>
              </a:rPr>
              <a:t>perintah/blok.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2E3A59"/>
                </a:solidFill>
                <a:latin typeface="Arial"/>
              </a:rPr>
              <a:t>• Kucing oranye adalah sprite </a:t>
            </a:r>
            <a:r>
              <a:rPr sz="1900" b="1">
                <a:solidFill>
                  <a:srgbClr val="2E3A59"/>
                </a:solidFill>
                <a:latin typeface="Arial"/>
              </a:rPr>
              <a:t>bawaan.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2E3A59"/>
                </a:solidFill>
                <a:latin typeface="Arial"/>
              </a:rPr>
              <a:t>• Bisa ditambah, dihapus, diganti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2E3A59"/>
                </a:solidFill>
                <a:latin typeface="Arial"/>
              </a:rPr>
              <a:t>  kostum &amp; ukurannya.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13</a:t>
            </a:r>
          </a:p>
        </p:txBody>
      </p:sp>
      <p:pic>
        <p:nvPicPr>
          <p:cNvPr id="20" name="Picture 19" descr="sprite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63" y="1645920"/>
            <a:ext cx="4897994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966FF"/>
                </a:solidFill>
                <a:latin typeface="Arial"/>
              </a:rPr>
              <a:t>ANTARMUKA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Stage (Panggung) &amp; Backdrop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822960"/>
          </a:xfrm>
          <a:prstGeom prst="round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3035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STAGE / PANGGUNG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75488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Area tempat program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ditampilkan &amp; dijalankan.</a:t>
            </a:r>
          </a:p>
          <a:p>
            <a:pPr algn="l">
              <a:lnSpc>
                <a:spcPct val="110000"/>
              </a:lnSpc>
            </a:pPr>
            <a:endParaRPr sz="18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Di sinilah sprite bergerak,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berbicara, dan beraksi.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822960"/>
          </a:xfrm>
          <a:prstGeom prst="round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947672"/>
            <a:ext cx="53035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BACKDROP / LATAR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75488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Gambar latar belakang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2E3A59"/>
                </a:solidFill>
                <a:latin typeface="Arial"/>
              </a:rPr>
              <a:t>dari panggung.</a:t>
            </a:r>
          </a:p>
          <a:p>
            <a:pPr algn="l">
              <a:lnSpc>
                <a:spcPct val="110000"/>
              </a:lnSpc>
            </a:pPr>
            <a:endParaRPr sz="18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Contoh: taman, kelas,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luar angkasa, dsb.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Blok &amp; Konsep Pemrograman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BLOK PEMROGRAMAN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Blok Dikelompokkan per Warna</a:t>
            </a:r>
          </a:p>
        </p:txBody>
      </p:sp>
      <p:pic>
        <p:nvPicPr>
          <p:cNvPr id="6" name="Picture 5" descr="block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554480"/>
            <a:ext cx="7772400" cy="4497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KONSEP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Sequence — Urutan</a:t>
            </a:r>
          </a:p>
        </p:txBody>
      </p:sp>
      <p:pic>
        <p:nvPicPr>
          <p:cNvPr id="6" name="Picture 5" descr="concep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00200"/>
            <a:ext cx="6217920" cy="3938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466344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2E3A59"/>
                </a:solidFill>
                <a:latin typeface="Arial"/>
              </a:rPr>
              <a:t>Program dijalankan</a:t>
            </a:r>
          </a:p>
          <a:p>
            <a:pPr algn="l">
              <a:lnSpc>
                <a:spcPct val="110000"/>
              </a:lnSpc>
            </a:pPr>
            <a:r>
              <a:rPr sz="2100" b="0">
                <a:solidFill>
                  <a:srgbClr val="2E3A59"/>
                </a:solidFill>
                <a:latin typeface="Arial"/>
              </a:rPr>
              <a:t>berurutan dari</a:t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4C97FF"/>
                </a:solidFill>
                <a:latin typeface="Arial"/>
              </a:rPr>
              <a:t>ATAS ke BAWAH.</a:t>
            </a:r>
          </a:p>
          <a:p>
            <a:pPr algn="l">
              <a:lnSpc>
                <a:spcPct val="110000"/>
              </a:lnSpc>
            </a:pPr>
            <a:endParaRPr sz="2200" b="1">
              <a:solidFill>
                <a:srgbClr val="4C97FF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Urutan blok menentukan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apa yang terjadi lebih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dulu. 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AB19"/>
                </a:solidFill>
                <a:latin typeface="Arial"/>
              </a:rPr>
              <a:t>KONSEP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Loop — Perulangan</a:t>
            </a:r>
          </a:p>
        </p:txBody>
      </p:sp>
      <p:pic>
        <p:nvPicPr>
          <p:cNvPr id="6" name="Picture 5" descr="concep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6035040" cy="3401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47548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AB19"/>
                </a:solidFill>
                <a:latin typeface="Arial"/>
              </a:rPr>
              <a:t>Loop</a:t>
            </a:r>
            <a:r>
              <a:rPr sz="2100" b="0">
                <a:solidFill>
                  <a:srgbClr val="2E3A59"/>
                </a:solidFill>
                <a:latin typeface="Arial"/>
              </a:rPr>
              <a:t> membuat perintah</a:t>
            </a:r>
          </a:p>
          <a:p>
            <a:pPr algn="l">
              <a:lnSpc>
                <a:spcPct val="110000"/>
              </a:lnSpc>
            </a:pPr>
            <a:r>
              <a:rPr sz="2100" b="0">
                <a:solidFill>
                  <a:srgbClr val="2E3A59"/>
                </a:solidFill>
                <a:latin typeface="Arial"/>
              </a:rPr>
              <a:t>diulang otomatis.</a:t>
            </a:r>
          </a:p>
          <a:p>
            <a:pPr algn="l">
              <a:lnSpc>
                <a:spcPct val="110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Daripada menulis blok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‘gerak’ 4 kali, cukup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bungkus dengan blok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‘ulangi 4 kali’. 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F00"/>
                </a:solidFill>
                <a:latin typeface="Arial"/>
              </a:rPr>
              <a:t>KONSEP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Events &amp; Percabangan (If)</a:t>
            </a:r>
          </a:p>
        </p:txBody>
      </p:sp>
      <p:pic>
        <p:nvPicPr>
          <p:cNvPr id="6" name="Picture 5" descr="concept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05" y="2148840"/>
            <a:ext cx="668655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BF00"/>
                </a:solidFill>
                <a:latin typeface="Arial"/>
              </a:rPr>
              <a:t>Events</a:t>
            </a:r>
            <a:r>
              <a:rPr sz="1800" b="0">
                <a:solidFill>
                  <a:srgbClr val="2E3A59"/>
                </a:solidFill>
                <a:latin typeface="Arial"/>
              </a:rPr>
              <a:t> = pemicu program mulai.   </a:t>
            </a:r>
            <a:r>
              <a:rPr sz="1900" b="1">
                <a:solidFill>
                  <a:srgbClr val="FFAB19"/>
                </a:solidFill>
                <a:latin typeface="Arial"/>
              </a:rPr>
              <a:t>Percabangan (If)</a:t>
            </a:r>
            <a:r>
              <a:rPr sz="1800" b="0">
                <a:solidFill>
                  <a:srgbClr val="2E3A59"/>
                </a:solidFill>
                <a:latin typeface="Arial"/>
              </a:rPr>
              <a:t> = keputusan berdasarkan syarat.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Ayo Praktik Pertama! 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97FF"/>
                </a:solidFill>
                <a:latin typeface="Arial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Kucing Bergerak &amp; Berbicara</a:t>
            </a:r>
          </a:p>
        </p:txBody>
      </p:sp>
      <p:pic>
        <p:nvPicPr>
          <p:cNvPr id="6" name="Picture 5" descr="practice_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97" y="1645920"/>
            <a:ext cx="5323646" cy="46360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20240"/>
            <a:ext cx="4754880" cy="2705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E3A59"/>
                </a:solidFill>
                <a:latin typeface="Arial"/>
              </a:rPr>
              <a:t>Susun 2 script berikut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2E3A59"/>
                </a:solidFill>
                <a:latin typeface="Arial"/>
              </a:rPr>
              <a:t>di area script:</a:t>
            </a:r>
          </a:p>
          <a:p>
            <a:pPr algn="l">
              <a:lnSpc>
                <a:spcPct val="110000"/>
              </a:lnSpc>
            </a:pPr>
            <a:endParaRPr sz="2000" b="0">
              <a:solidFill>
                <a:srgbClr val="6B7A90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Klik </a:t>
            </a:r>
            <a:r>
              <a:rPr sz="1700" b="1">
                <a:solidFill>
                  <a:srgbClr val="59C059"/>
                </a:solidFill>
                <a:latin typeface="Arial"/>
              </a:rPr>
              <a:t>bendera hijau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6B7A90"/>
                </a:solidFill>
                <a:latin typeface="Arial"/>
              </a:rPr>
              <a:t>untuk menjalankannya.</a:t>
            </a:r>
          </a:p>
          <a:p>
            <a:pPr algn="l">
              <a:lnSpc>
                <a:spcPct val="110000"/>
              </a:lnSpc>
            </a:pPr>
            <a:endParaRPr sz="1700" b="0">
              <a:solidFill>
                <a:srgbClr val="6B7A90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Kucing jalan ke kanan. Begitu menyentuh pinggir panggung, ia berputar 180° dan jalan ke arah sebaliknya — badannya ikut berbalik.</a:t>
            </a:r>
          </a:p>
          <a:p>
            <a:pPr algn="l">
              <a:lnSpc>
                <a:spcPct val="110000"/>
              </a:lnSpc>
            </a:pPr>
            <a:endParaRPr sz="1600" b="0">
              <a:solidFill>
                <a:srgbClr val="6B7A90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A90"/>
                </a:solidFill>
                <a:latin typeface="Arial"/>
              </a:rPr>
              <a:t>Suara Meow terdengar tiap 2 detik. 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21</a:t>
            </a:r>
          </a:p>
        </p:txBody>
      </p:sp>
      <p:sp>
        <p:nvSpPr>
          <p:cNvPr id="10" name="Peringatan Rotasi"/>
          <p:cNvSpPr txBox="1"/>
          <p:nvPr/>
        </p:nvSpPr>
        <p:spPr>
          <a:xfrm>
            <a:off x="640080" y="4892040"/>
            <a:ext cx="4754880" cy="56692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63946"/>
            </a:solidFill>
          </a:ln>
        </p:spPr>
        <p:txBody>
          <a:bodyPr wrap="square" lIns="91440" tIns="45720" rIns="91440" bIns="4572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B3261E"/>
                </a:solidFill>
                <a:latin typeface="Arial"/>
              </a:rPr>
              <a:t>⚠️ Jangan lewatkan </a:t>
            </a:r>
            <a:r>
              <a:rPr sz="1300" b="1">
                <a:solidFill>
                  <a:srgbClr val="B3261E"/>
                </a:solidFill>
                <a:latin typeface="Arial"/>
              </a:rPr>
              <a:t>set rotation style [left-right]</a:t>
            </a:r>
            <a:r>
              <a:rPr sz="1300" b="0">
                <a:solidFill>
                  <a:srgbClr val="B3261E"/>
                </a:solidFill>
                <a:latin typeface="Arial"/>
              </a:rPr>
              <a:t>. Tanpa blok itu kucing jadi </a:t>
            </a:r>
            <a:r>
              <a:rPr sz="1300" b="1">
                <a:solidFill>
                  <a:srgbClr val="B3261E"/>
                </a:solidFill>
                <a:latin typeface="Arial"/>
              </a:rPr>
              <a:t>terbalik</a:t>
            </a:r>
            <a:r>
              <a:rPr sz="1300" b="0">
                <a:solidFill>
                  <a:srgbClr val="B3261E"/>
                </a:solidFill>
                <a:latin typeface="Arial"/>
              </a:rPr>
              <a:t> saat pulang ke kiri.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9C059"/>
                </a:solidFill>
                <a:latin typeface="Arial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Langkah-langkah Membuatnya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640080" y="1719072"/>
            <a:ext cx="420624" cy="420624"/>
          </a:xfrm>
          <a:prstGeom prst="round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TextBox 400"/>
          <p:cNvSpPr txBox="1"/>
          <p:nvPr/>
        </p:nvSpPr>
        <p:spPr>
          <a:xfrm>
            <a:off x="640080" y="1737360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508760" y="1737360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Buka scratch.mit.edu lalu klik “Buat”.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640080" y="2231136"/>
            <a:ext cx="420624" cy="420624"/>
          </a:xfrm>
          <a:prstGeom prst="roundRect">
            <a:avLst/>
          </a:prstGeom>
          <a:solidFill>
            <a:srgbClr val="F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640080" y="2249424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508760" y="2249424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Events: “when green flag clicked”.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640080" y="2743200"/>
            <a:ext cx="420624" cy="420624"/>
          </a:xfrm>
          <a:prstGeom prst="round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TextBox 406"/>
          <p:cNvSpPr txBox="1"/>
          <p:nvPr/>
        </p:nvSpPr>
        <p:spPr>
          <a:xfrm>
            <a:off x="640080" y="2761488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508760" y="2761488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Motion: “go to x: (-180) y: (0)”, “point in direction (90)”, “set rotation style (left-right)”.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640080" y="3255264"/>
            <a:ext cx="420624" cy="420624"/>
          </a:xfrm>
          <a:prstGeom prst="round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TextBox 409"/>
          <p:cNvSpPr txBox="1"/>
          <p:nvPr/>
        </p:nvSpPr>
        <p:spPr>
          <a:xfrm>
            <a:off x="640080" y="3273552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508760" y="3273552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Looks: “say (Halo, aku Scratch!) for (2) seconds”.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640080" y="3767328"/>
            <a:ext cx="420624" cy="420624"/>
          </a:xfrm>
          <a:prstGeom prst="round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TextBox 412"/>
          <p:cNvSpPr txBox="1"/>
          <p:nvPr/>
        </p:nvSpPr>
        <p:spPr>
          <a:xfrm>
            <a:off x="640080" y="3785616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508760" y="3785616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Control: “forever” berisi “move (5) steps” — gerak halus tanpa henti.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640080" y="4279392"/>
            <a:ext cx="420624" cy="420624"/>
          </a:xfrm>
          <a:prstGeom prst="round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415"/>
          <p:cNvSpPr txBox="1"/>
          <p:nvPr/>
        </p:nvSpPr>
        <p:spPr>
          <a:xfrm>
            <a:off x="640080" y="4297680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508760" y="4297680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Masih di dalam forever, pasang “if ⟨touching (edge)?⟩ then” (blok Sensing).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640080" y="4791456"/>
            <a:ext cx="420624" cy="420624"/>
          </a:xfrm>
          <a:prstGeom prst="round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TextBox 418"/>
          <p:cNvSpPr txBox="1"/>
          <p:nvPr/>
        </p:nvSpPr>
        <p:spPr>
          <a:xfrm>
            <a:off x="640080" y="4809744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508760" y="4809744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Isi if itu dengan “turn ↻ (180) degrees” — kucing balik arah di pinggir.</a:t>
            </a:r>
          </a:p>
        </p:txBody>
      </p:sp>
      <p:sp>
        <p:nvSpPr>
          <p:cNvPr id="421" name="Rounded Rectangle 420"/>
          <p:cNvSpPr/>
          <p:nvPr/>
        </p:nvSpPr>
        <p:spPr>
          <a:xfrm>
            <a:off x="640080" y="5303520"/>
            <a:ext cx="420624" cy="420624"/>
          </a:xfrm>
          <a:prstGeom prst="round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TextBox 421"/>
          <p:cNvSpPr txBox="1"/>
          <p:nvPr/>
        </p:nvSpPr>
        <p:spPr>
          <a:xfrm>
            <a:off x="640080" y="5321808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508760" y="5321808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Script ke-2: “forever” berisi “start sound (Meow)” + “wait (2) seconds”.</a:t>
            </a:r>
          </a:p>
        </p:txBody>
      </p:sp>
      <p:sp>
        <p:nvSpPr>
          <p:cNvPr id="424" name="Rounded Rectangle 423"/>
          <p:cNvSpPr/>
          <p:nvPr/>
        </p:nvSpPr>
        <p:spPr>
          <a:xfrm>
            <a:off x="640080" y="5815584"/>
            <a:ext cx="420624" cy="420624"/>
          </a:xfrm>
          <a:prstGeom prst="round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TextBox 424"/>
          <p:cNvSpPr txBox="1"/>
          <p:nvPr/>
        </p:nvSpPr>
        <p:spPr>
          <a:xfrm>
            <a:off x="640080" y="5833872"/>
            <a:ext cx="420624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508760" y="5833872"/>
            <a:ext cx="99669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E3A59"/>
                </a:solidFill>
                <a:latin typeface="Arial"/>
              </a:rPr>
              <a:t>Klik bendera hijau ▶ — kucing bolak-balik &amp; mengeong tiap 2 detik!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966FF"/>
                </a:solidFill>
                <a:latin typeface="Arial"/>
              </a:rPr>
              <a:t>TANTANGAN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Tantangan Mini untukmu 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35661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24128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9966FF"/>
                </a:solidFill>
                <a:latin typeface="Arial"/>
              </a:rPr>
              <a:t>🎯  </a:t>
            </a:r>
            <a:r>
              <a:rPr sz="2100" b="0">
                <a:solidFill>
                  <a:srgbClr val="2E3A59"/>
                </a:solidFill>
                <a:latin typeface="Arial"/>
              </a:rPr>
              <a:t>Buat kucing berjalan lalu berputar 360° (pakai loop!).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9966FF"/>
                </a:solidFill>
                <a:latin typeface="Arial"/>
              </a:rPr>
              <a:t>🎯  </a:t>
            </a:r>
            <a:r>
              <a:rPr sz="2100" b="0">
                <a:solidFill>
                  <a:srgbClr val="2E3A59"/>
                </a:solidFill>
                <a:latin typeface="Arial"/>
              </a:rPr>
              <a:t>Ganti ucapan menjadi namamu sendiri.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9966FF"/>
                </a:solidFill>
                <a:latin typeface="Arial"/>
              </a:rPr>
              <a:t>🎯  </a:t>
            </a:r>
            <a:r>
              <a:rPr sz="2100" b="0">
                <a:solidFill>
                  <a:srgbClr val="2E3A59"/>
                </a:solidFill>
                <a:latin typeface="Arial"/>
              </a:rPr>
              <a:t>Tambahkan suara “Meow” saat kucing bergerak.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9966FF"/>
                </a:solidFill>
                <a:latin typeface="Arial"/>
              </a:rPr>
              <a:t>🎯  </a:t>
            </a:r>
            <a:r>
              <a:rPr sz="2100" b="0">
                <a:solidFill>
                  <a:srgbClr val="2E3A59"/>
                </a:solidFill>
                <a:latin typeface="Arial"/>
              </a:rPr>
              <a:t>Ganti backdrop menjadi pemandangan taman.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201168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9C059"/>
                </a:solidFill>
                <a:latin typeface="Arial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3385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E2A45"/>
                </a:solidFill>
                <a:latin typeface="Arial"/>
              </a:rPr>
              <a:t>Rangkuman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59C059"/>
                </a:solidFill>
                <a:latin typeface="Arial"/>
              </a:rPr>
              <a:t>✅  </a:t>
            </a:r>
            <a:r>
              <a:rPr sz="2100" b="0">
                <a:solidFill>
                  <a:srgbClr val="2E3A59"/>
                </a:solidFill>
                <a:latin typeface="Arial"/>
              </a:rPr>
              <a:t>Coding = memberi instruksi terurut kepada komputer.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59C059"/>
                </a:solidFill>
                <a:latin typeface="Arial"/>
              </a:rPr>
              <a:t>✅  </a:t>
            </a:r>
            <a:r>
              <a:rPr sz="2100" b="0">
                <a:solidFill>
                  <a:srgbClr val="2E3A59"/>
                </a:solidFill>
                <a:latin typeface="Arial"/>
              </a:rPr>
              <a:t>Scratch = pemrograman visual berbasis blok buatan MIT (Massachusetts Institute of Technology).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59C059"/>
                </a:solidFill>
                <a:latin typeface="Arial"/>
              </a:rPr>
              <a:t>✅  </a:t>
            </a:r>
            <a:r>
              <a:rPr sz="2100" b="0">
                <a:solidFill>
                  <a:srgbClr val="2E3A59"/>
                </a:solidFill>
                <a:latin typeface="Arial"/>
              </a:rPr>
              <a:t>Interface: Palet Blok, Area Script, Stage, dan Sprite.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59C059"/>
                </a:solidFill>
                <a:latin typeface="Arial"/>
              </a:rPr>
              <a:t>✅  </a:t>
            </a:r>
            <a:r>
              <a:rPr sz="2100" b="0">
                <a:solidFill>
                  <a:srgbClr val="2E3A59"/>
                </a:solidFill>
                <a:latin typeface="Arial"/>
              </a:rPr>
              <a:t>Blok dikelompokkan per warna sesuai fungsinya.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1">
                <a:solidFill>
                  <a:srgbClr val="59C059"/>
                </a:solidFill>
                <a:latin typeface="Arial"/>
              </a:rPr>
              <a:t>✅  </a:t>
            </a:r>
            <a:r>
              <a:rPr sz="2100" b="0">
                <a:solidFill>
                  <a:srgbClr val="2E3A59"/>
                </a:solidFill>
                <a:latin typeface="Arial"/>
              </a:rPr>
              <a:t>Konsep dasar: Sequence, Loop, dan Percabangan (If).</a:t>
            </a:r>
          </a:p>
          <a:p>
            <a:pPr algn="l">
              <a:lnSpc>
                <a:spcPct val="105000"/>
              </a:lnSpc>
            </a:pPr>
            <a:endParaRPr sz="2100" b="0">
              <a:solidFill>
                <a:srgbClr val="2E3A5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B7A90"/>
                </a:solidFill>
                <a:latin typeface="Arial"/>
              </a:rPr>
              <a:t>Pengenalan</a:t>
            </a:r>
            <a:r>
              <a:rPr sz="1000" b="0" dirty="0">
                <a:solidFill>
                  <a:srgbClr val="6B7A90"/>
                </a:solidFill>
                <a:latin typeface="Arial"/>
              </a:rPr>
              <a:t> Coding Dasar Scratch • 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B7A9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E2A45"/>
                </a:solidFill>
                <a:latin typeface="Arial"/>
              </a:rPr>
              <a:t>Terima Kasih! 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2E3A59"/>
                </a:solidFill>
                <a:latin typeface="Arial"/>
              </a:rPr>
              <a:t>Selamat mencoba &amp; berkreasi dengan Scratch!</a:t>
            </a:r>
          </a:p>
          <a:p>
            <a:pPr algn="ctr">
              <a:lnSpc>
                <a:spcPct val="100000"/>
              </a:lnSpc>
            </a:pPr>
            <a:endParaRPr sz="2200" b="0">
              <a:solidFill>
                <a:srgbClr val="2E3A59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B7A90"/>
                </a:solidFill>
                <a:latin typeface="Arial"/>
              </a:rPr>
              <a:t>Lanjut ke Part 2 untuk membuat game pertamamu.</a:t>
            </a:r>
          </a:p>
        </p:txBody>
      </p:sp>
      <p:pic>
        <p:nvPicPr>
          <p:cNvPr id="7" name="Picture 6" descr="cat_sp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1097</Words>
  <Application>Microsoft Macintosh PowerPoint</Application>
  <PresentationFormat>Widescreen</PresentationFormat>
  <Paragraphs>248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Moh. Fauzi Slamet</cp:lastModifiedBy>
  <cp:revision>5</cp:revision>
  <dcterms:created xsi:type="dcterms:W3CDTF">2013-01-27T09:14:16Z</dcterms:created>
  <dcterms:modified xsi:type="dcterms:W3CDTF">2026-08-04T12:40:11Z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2026-08-02T12:25:46Z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28252764-ed51-4f8c-a200-e0c081234d0e</vt:lpwstr>
  </property>
  <property fmtid="{D5CDD505-2E9C-101B-9397-08002B2CF9AE}" pid="7" name="MSIP_Label_defa4170-0d19-0005-0004-bc88714345d2_ActionId">
    <vt:lpwstr>0f4083e5-7c46-4674-a24a-36b8c9968ff2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