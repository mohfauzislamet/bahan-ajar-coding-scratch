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E7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enturo-k2-193.jpg"/>
          <p:cNvPicPr>
            <a:picLocks noChangeAspect="1"/>
          </p:cNvPicPr>
          <p:nvPr/>
        </p:nvPicPr>
        <p:blipFill>
          <a:blip r:embed="rId2"/>
          <a:srcRect l="17983" r="24834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173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2DEF0"/>
                </a:solidFill>
                <a:latin typeface="Arial"/>
              </a:rPr>
              <a:t>BAHAN AJAR CODING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Perkenalan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Moh Fauzi Slamet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D3E7F4"/>
                </a:solidFill>
                <a:latin typeface="Arial"/>
              </a:rPr>
              <a:t>Flutter Mobile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9E2F2"/>
                </a:solidFill>
                <a:latin typeface="Arial"/>
              </a:rPr>
              <a:t>PT Venturo Pro Indonesia  ·  Malang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BDAEE"/>
                </a:solidFill>
                <a:latin typeface="Arial"/>
              </a:rPr>
              <a:t>SIAPA YANG MENGAJAR KALIAN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Halo, kenalkan saya Kak Fauzi</a:t>
            </a:r>
          </a:p>
        </p:txBody>
      </p:sp>
      <p:pic>
        <p:nvPicPr>
          <p:cNvPr id="5" name="Picture 4" descr="venturo-k2-195.jpg"/>
          <p:cNvPicPr>
            <a:picLocks noChangeAspect="1"/>
          </p:cNvPicPr>
          <p:nvPr/>
        </p:nvPicPr>
        <p:blipFill>
          <a:blip r:embed="rId2"/>
          <a:srcRect l="9000" r="11000"/>
          <a:stretch>
            <a:fillRect/>
          </a:stretch>
        </p:blipFill>
        <p:spPr>
          <a:xfrm>
            <a:off x="548640" y="1417320"/>
            <a:ext cx="4663440" cy="3886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77840" y="1481328"/>
            <a:ext cx="606521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626B7A"/>
                </a:solidFill>
                <a:latin typeface="Arial"/>
              </a:rPr>
              <a:t>TENTANG SAYA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•  Nama lengkap: Moh Fauzi Slamet — panggil saja Kak Fauzi.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•  Tinggal di Malang, Jawa Timur.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•  Lulusan S.Kom Institut Teknologi dan Bisnis ASIA Malang (2018–2022).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•  Bekerja sebagai Mobile Developer di PT Venturo Pro Indonesia sejak Agustus 2022.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•  Hampir 4 tahun membuat aplikasi HP untuk klien pemerintah, kesehatan, donasi, dan komunitas.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5440680"/>
            <a:ext cx="6065215" cy="7772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79008" y="5586984"/>
            <a:ext cx="56628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Pekerjaan saya sehari-hari: menulis kode agar sebuah aplikasi bisa dipakai orang banyak di HP mereka.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Perkenalan  ·  Coding Scratch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FB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2EAC7"/>
                </a:solidFill>
                <a:latin typeface="Arial"/>
              </a:rPr>
              <a:t>PEKERJAAN SAYA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Apa itu Mobile Developer?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433"/>
                </a:solidFill>
                <a:latin typeface="Arial"/>
              </a:rPr>
              <a:t>Orang yang membuat aplikasi di HP — seperti aplikasi yang ada di layar HP kalian sekarang.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F3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96661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FB63A"/>
                </a:solidFill>
                <a:latin typeface="Arial"/>
              </a:rPr>
              <a:t>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2433"/>
                </a:solidFill>
                <a:latin typeface="Arial"/>
              </a:rPr>
              <a:t>Merancang tampilan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Tombol, halaman, warna, animasi — supaya enak dilihat dan mudah dipakai.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233172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F3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2538" y="2560320"/>
            <a:ext cx="296661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FB63A"/>
                </a:solidFill>
                <a:latin typeface="Arial"/>
              </a:rPr>
              <a:t>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2433"/>
                </a:solidFill>
                <a:latin typeface="Arial"/>
              </a:rPr>
              <a:t>Menyambung ke internet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Mengambil data dari server: login, daftar produk, chat, pembayaran.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233172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F3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02116" y="2560320"/>
            <a:ext cx="296661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FB63A"/>
                </a:solidFill>
                <a:latin typeface="Arial"/>
              </a:rPr>
              <a:t>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2433"/>
                </a:solidFill>
                <a:latin typeface="Arial"/>
              </a:rPr>
              <a:t>Menjaga aplikasi tetap sehat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Memperbaiki error agar aplikasi tidak macet walau dipakai jutaan orang.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1094415" cy="105156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074920"/>
            <a:ext cx="1058235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B26A00"/>
                </a:solidFill>
                <a:latin typeface="Arial"/>
              </a:rPr>
              <a:t>MIRIP SCRATCH, KAN?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Di Scratch ada Panggung (tampilan) dan blok kode (perintah). Di pekerjaan saya juga sama — hanya saja perintahnya tidak berbentuk blok warna-warni, tetapi ditulis sebagai teks.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Perkenalan  ·  Coding Scratch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ACDFF"/>
                </a:solidFill>
                <a:latin typeface="Arial"/>
              </a:rPr>
              <a:t>ISI TAS KERJA SAYA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Alat dan bahasa yang saya 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26B7A"/>
                </a:solidFill>
                <a:latin typeface="Arial"/>
              </a:rPr>
              <a:t>BAHASA &amp;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10512"/>
            <a:ext cx="877824" cy="384048"/>
          </a:xfrm>
          <a:prstGeom prst="roundRect">
            <a:avLst>
              <a:gd name="adj" fmla="val 6000"/>
            </a:avLst>
          </a:prstGeom>
          <a:solidFill>
            <a:srgbClr val="EC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C4DFF"/>
                </a:solidFill>
                <a:latin typeface="Arial"/>
              </a:rPr>
              <a:t>Dart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27632" y="1810512"/>
            <a:ext cx="1248156" cy="384048"/>
          </a:xfrm>
          <a:prstGeom prst="roundRect">
            <a:avLst>
              <a:gd name="adj" fmla="val 6000"/>
            </a:avLst>
          </a:prstGeom>
          <a:solidFill>
            <a:srgbClr val="EC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C4DFF"/>
                </a:solidFill>
                <a:latin typeface="Arial"/>
              </a:rPr>
              <a:t>Flutter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26B7A"/>
                </a:solidFill>
                <a:latin typeface="Arial"/>
              </a:rPr>
              <a:t>PENGATUR DATA APLIKASI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53512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DD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EC4"/>
                </a:solidFill>
                <a:latin typeface="Arial"/>
              </a:rPr>
              <a:t>Provider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1408" y="2953512"/>
            <a:ext cx="877824" cy="384048"/>
          </a:xfrm>
          <a:prstGeom prst="roundRect">
            <a:avLst>
              <a:gd name="adj" fmla="val 6000"/>
            </a:avLst>
          </a:prstGeom>
          <a:solidFill>
            <a:srgbClr val="DD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EC4"/>
                </a:solidFill>
                <a:latin typeface="Arial"/>
              </a:rPr>
              <a:t>GetX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953512"/>
            <a:ext cx="877824" cy="384048"/>
          </a:xfrm>
          <a:prstGeom prst="roundRect">
            <a:avLst>
              <a:gd name="adj" fmla="val 6000"/>
            </a:avLst>
          </a:prstGeom>
          <a:solidFill>
            <a:srgbClr val="DD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EC4"/>
                </a:solidFill>
                <a:latin typeface="Arial"/>
              </a:rPr>
              <a:t>BLoC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953512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DD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EC4"/>
                </a:solidFill>
                <a:latin typeface="Arial"/>
              </a:rPr>
              <a:t>Riverpod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26B7A"/>
                </a:solidFill>
                <a:latin typeface="Arial"/>
              </a:rPr>
              <a:t>PENYAMBUNG &amp; PENDUKUNG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96512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E8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FB63A"/>
                </a:solidFill>
                <a:latin typeface="Arial"/>
              </a:rPr>
              <a:t>REST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21408" y="4096512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E8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FB63A"/>
                </a:solidFill>
                <a:latin typeface="Arial"/>
              </a:rPr>
              <a:t>Firebase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94176" y="4096512"/>
            <a:ext cx="1001268" cy="384048"/>
          </a:xfrm>
          <a:prstGeom prst="roundRect">
            <a:avLst>
              <a:gd name="adj" fmla="val 6000"/>
            </a:avLst>
          </a:prstGeom>
          <a:solidFill>
            <a:srgbClr val="E8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FB63A"/>
                </a:solidFill>
                <a:latin typeface="Arial"/>
              </a:rPr>
              <a:t>Figma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6612" y="4096512"/>
            <a:ext cx="2729484" cy="384048"/>
          </a:xfrm>
          <a:prstGeom prst="roundRect">
            <a:avLst>
              <a:gd name="adj" fmla="val 6000"/>
            </a:avLst>
          </a:prstGeom>
          <a:solidFill>
            <a:srgbClr val="E8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FB63A"/>
                </a:solidFill>
                <a:latin typeface="Arial"/>
              </a:rPr>
              <a:t>Bitbucket Pipelines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2433"/>
                </a:solidFill>
                <a:latin typeface="Arial"/>
              </a:rPr>
              <a:t>Semua nama di atas hanyalah ALAT. Yang paling penting bukan alatnya, tapi cara berpikirnya.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641848"/>
            <a:ext cx="1058235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Cara berpikir itu yang kita latih di Scratch: urutan, perulangan, kondisi, dan kejadian (event).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Perkenalan  ·  Coding Scratch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BDAEE"/>
                </a:solidFill>
                <a:latin typeface="Arial"/>
              </a:rPr>
              <a:t>4 APLIKASI, SEMUA DIPAKAI ORANG SUNGGUHAN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Aplikasi yang pernah saya kerjakan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00903" cy="2057400"/>
          </a:xfrm>
          <a:prstGeom prst="roundRect">
            <a:avLst>
              <a:gd name="adj" fmla="val 6000"/>
            </a:avLst>
          </a:prstGeom>
          <a:solidFill>
            <a:srgbClr val="F0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82296" cy="2057400"/>
          </a:xfrm>
          <a:prstGeom prst="rect">
            <a:avLst/>
          </a:prstGeom>
          <a:solidFill>
            <a:srgbClr val="0E7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09344"/>
            <a:ext cx="4779111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F2433"/>
                </a:solidFill>
                <a:latin typeface="Arial"/>
              </a:rPr>
              <a:t>Pusaka Super Apps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626B7A"/>
                </a:solidFill>
                <a:latin typeface="Arial"/>
              </a:rPr>
              <a:t>Kementerian Agama RI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E7EC4"/>
                </a:solidFill>
                <a:latin typeface="Arial"/>
              </a:rPr>
              <a:t>1.000.000+ unduhan di Google Play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Al-Qur'an digital, jadwal salat, arah kiblat,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kalender hijriah, daftar nikah, sertifikasi halal.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2151" y="1371600"/>
            <a:ext cx="5400903" cy="2057400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2151" y="1371600"/>
            <a:ext cx="82296" cy="2057400"/>
          </a:xfrm>
          <a:prstGeom prst="rect">
            <a:avLst/>
          </a:prstGeom>
          <a:solidFill>
            <a:srgbClr val="5FB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1609344"/>
            <a:ext cx="4779111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F2433"/>
                </a:solidFill>
                <a:latin typeface="Arial"/>
              </a:rPr>
              <a:t>Hayyu Apps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626B7A"/>
                </a:solidFill>
                <a:latin typeface="Arial"/>
              </a:rPr>
              <a:t>Hayyu Skin Clinic  ·  Google Play &amp; App Store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5FB63A"/>
                </a:solidFill>
                <a:latin typeface="Arial"/>
              </a:rPr>
              <a:t>Rating 4,9 dari 5 di App Store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Konsultasi dokter lewat chat &amp; video call,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reservasi perawatan, riwayat pengobatan.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85032"/>
            <a:ext cx="5400903" cy="2057400"/>
          </a:xfrm>
          <a:prstGeom prst="roundRect">
            <a:avLst>
              <a:gd name="adj" fmla="val 6000"/>
            </a:avLst>
          </a:prstGeom>
          <a:solidFill>
            <a:srgbClr val="FF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85032"/>
            <a:ext cx="82296" cy="20574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922776"/>
            <a:ext cx="4779111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F2433"/>
                </a:solidFill>
                <a:latin typeface="Arial"/>
              </a:rPr>
              <a:t>Lazisnu Apps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626B7A"/>
                </a:solidFill>
                <a:latin typeface="Arial"/>
              </a:rPr>
              <a:t>NU Care–LAZISNU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FF8C1A"/>
                </a:solidFill>
                <a:latin typeface="Arial"/>
              </a:rPr>
              <a:t>Zakat, infak, sedekah, fidyah, kurban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Alur donasi bertahap dan pembayaran lewat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Virtual Account. Kini tidak lagi ada di store.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2151" y="3685032"/>
            <a:ext cx="5400903" cy="2057400"/>
          </a:xfrm>
          <a:prstGeom prst="roundRect">
            <a:avLst>
              <a:gd name="adj" fmla="val 6000"/>
            </a:avLst>
          </a:prstGeom>
          <a:solidFill>
            <a:srgbClr val="F7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2151" y="3685032"/>
            <a:ext cx="82296" cy="20574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3047" y="3922776"/>
            <a:ext cx="4779111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F2433"/>
                </a:solidFill>
                <a:latin typeface="Arial"/>
              </a:rPr>
              <a:t>CUiT: Community Enabler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626B7A"/>
                </a:solidFill>
                <a:latin typeface="Arial"/>
              </a:rPr>
              <a:t>Produk komunitas  ·  Google Play &amp; App Store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7C4DFF"/>
                </a:solidFill>
                <a:latin typeface="Arial"/>
              </a:rPr>
              <a:t>Rating 4,8 dari 5 di App Store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Misi/tugas komunitas, konten interaktif,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chat waktu-nyata, dan hadiah.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B7A"/>
                </a:solidFill>
                <a:latin typeface="Arial"/>
              </a:rPr>
              <a:t>Angka store per Juli 2026. Semua dikerjakan bersama tim di PT Venturo Pro Indonesia.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Perkenalan  ·  Coding Scratch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7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DEF0"/>
                </a:solidFill>
                <a:latin typeface="Arial"/>
              </a:rPr>
              <a:t>APLIKASI YANG PALING BANYAK DIPAKAI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FFFFFF"/>
                </a:solidFill>
                <a:latin typeface="Arial"/>
              </a:rPr>
              <a:t>1.000.000+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109441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Arial"/>
              </a:rPr>
              <a:t>unduhan aplikasi Pusaka di Google Play — aplikasi resmi Kementerian Agama 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AEBF6"/>
                </a:solidFill>
                <a:latin typeface="Arial"/>
              </a:rPr>
              <a:t>Artinya: kode yang saya tulis bareng tim dibuka oleh sejuta orang lebih di HP mereka. Satu tombol yang salah pun akan langsung terasa oleh banyak orang.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TIDAK ADA YANG INSTAN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Perjalanan saya sampai jadi developer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04288"/>
            <a:ext cx="11094415" cy="54864"/>
          </a:xfrm>
          <a:prstGeom prst="rect">
            <a:avLst/>
          </a:prstGeom>
          <a:solidFill>
            <a:srgbClr val="FFD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21408"/>
            <a:ext cx="1554480" cy="384048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8C1A"/>
                </a:solidFill>
                <a:latin typeface="Arial"/>
              </a:rPr>
              <a:t>2018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258157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2433"/>
                </a:solidFill>
                <a:latin typeface="Arial"/>
              </a:rPr>
              <a:t>Masuk kuliah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Institut Teknologi dan Bisnis ASIA Malang.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6251" y="2121408"/>
            <a:ext cx="1554480" cy="384048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8C1A"/>
                </a:solidFill>
                <a:latin typeface="Arial"/>
              </a:rPr>
              <a:t>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6251" y="2880360"/>
            <a:ext cx="258157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2433"/>
                </a:solidFill>
                <a:latin typeface="Arial"/>
              </a:rPr>
              <a:t>Lulus S.Kom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Selesai kuliah setelah 4 tahun belajar.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2121408"/>
            <a:ext cx="1554480" cy="384048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8C1A"/>
                </a:solidFill>
                <a:latin typeface="Arial"/>
              </a:rPr>
              <a:t>Agu 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863" y="2880360"/>
            <a:ext cx="258157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2433"/>
                </a:solidFill>
                <a:latin typeface="Arial"/>
              </a:rPr>
              <a:t>Kerja pertama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Diterima sebagai Mobile Developer di PT Venturo Pro Indonesia.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1475" y="2121408"/>
            <a:ext cx="1554480" cy="384048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8C1A"/>
                </a:solidFill>
                <a:latin typeface="Arial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1475" y="2880360"/>
            <a:ext cx="258157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2433"/>
                </a:solidFill>
                <a:latin typeface="Arial"/>
              </a:rPr>
              <a:t>Hampir 4 tahun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4 aplikasi produksi, 4 cara mengatur data aplikasi dikuasai.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11094415" cy="1051560"/>
          </a:xfrm>
          <a:prstGeom prst="roundRect">
            <a:avLst>
              <a:gd name="adj" fmla="val 6000"/>
            </a:avLst>
          </a:prstGeom>
          <a:solidFill>
            <a:srgbClr val="FF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212080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8C1A"/>
                </a:solidFill>
                <a:latin typeface="Arial"/>
              </a:rPr>
              <a:t>Pesan untuk kalian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3"/>
                </a:solidFill>
                <a:latin typeface="Arial"/>
              </a:rPr>
              <a:t>Saya juga mulai dari nol dan sering salah. Yang membedakan bukan bakat, tapi mau mencoba lagi setelah kodenya error.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Perkenalan  ·  Coding Scratch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FB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2EAC7"/>
                </a:solidFill>
                <a:latin typeface="Arial"/>
              </a:rPr>
              <a:t>APA GUNANYA BELAJAR SCRATCH?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Dari blok Scratch ke kode sungguhan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4415" cy="65836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3"/>
                </a:solidFill>
                <a:latin typeface="Courier New"/>
              </a:rPr>
              <a:t>when green flag clicked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600200"/>
            <a:ext cx="57451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Event — kode berjalan saat aplikasi dibuka.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585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3"/>
                </a:solidFill>
                <a:latin typeface="Courier New"/>
              </a:rPr>
              <a:t>repeat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258568"/>
            <a:ext cx="57451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Perulangan — menampilkan daftar 10 produk.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34056"/>
            <a:ext cx="11094415" cy="65836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1693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3"/>
                </a:solidFill>
                <a:latin typeface="Courier New"/>
              </a:rPr>
              <a:t>if ... then ... else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916936"/>
            <a:ext cx="57451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Percabangan — password benar atau salah.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7530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3"/>
                </a:solidFill>
                <a:latin typeface="Courier New"/>
              </a:rPr>
              <a:t>set [skor] to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575304"/>
            <a:ext cx="57451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Variabel — menyimpan data pengguna.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50792"/>
            <a:ext cx="11094415" cy="65836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336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3"/>
                </a:solidFill>
                <a:latin typeface="Courier New"/>
              </a:rPr>
              <a:t>broadcast [pesan]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233672"/>
            <a:ext cx="57451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Kirim pesan antar bagian aplikasi.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3"/>
                </a:solidFill>
                <a:latin typeface="Courier New"/>
              </a:rPr>
              <a:t>sprite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892040"/>
            <a:ext cx="57451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Widget — potongan tampilan di layar.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EFF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641848"/>
            <a:ext cx="1058235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433"/>
                </a:solidFill>
                <a:latin typeface="Arial"/>
              </a:rPr>
              <a:t>Konsepnya persis sama. Kalau kalian paham blok-blok ini, kalian sudah setengah jalan menuju bahasa pemrograman sungguhan.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Perkenalan  ·  Coding Scratch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E8D1"/>
                </a:solidFill>
                <a:latin typeface="Arial"/>
              </a:rPr>
              <a:t>SESI PERKENALAN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Sekarang giliran kalian!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1109441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8C1A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505456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2433"/>
                </a:solidFill>
                <a:latin typeface="Arial"/>
              </a:rPr>
              <a:t>Siapa nama kalian?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578608"/>
            <a:ext cx="41449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Nama lengkap dan nama panggilan.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1109441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8C1A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19856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2433"/>
                </a:solidFill>
                <a:latin typeface="Arial"/>
              </a:rPr>
              <a:t>Dari kelas apa?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493008"/>
            <a:ext cx="41449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Sebutkan kelas kalian sekarang.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06240"/>
            <a:ext cx="1109441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891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8C1A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334256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2433"/>
                </a:solidFill>
                <a:latin typeface="Arial"/>
              </a:rPr>
              <a:t>Mengapa ingin belajar coding?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407408"/>
            <a:ext cx="41449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Alasan kalian mau ada di kelas ini.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20640"/>
            <a:ext cx="1109441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3035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8C1A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248656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2433"/>
                </a:solidFill>
                <a:latin typeface="Arial"/>
              </a:rPr>
              <a:t>Motivasi tertinggi kalian apa?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321808"/>
            <a:ext cx="41449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Hal yang membuat kalian tetap belajar walau susah.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ACDFF"/>
                </a:solidFill>
                <a:latin typeface="Arial"/>
              </a:rPr>
              <a:t>SUPAYA CEPAT DAN SERU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Cara menjawabnya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626B7A"/>
                </a:solidFill>
                <a:latin typeface="Arial"/>
              </a:rPr>
              <a:t>CONTOH JAWABAN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6035040" cy="3246120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54864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“Halo, nama saya Rani, panggil saja Rani.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Saya dari kelas 8B.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Saya ingin belajar coding karena saya suka main game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dan penasaran bagaimana cara membuatnya.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Motivasi tertinggi saya: suatu hari saya ingin membuat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game sendiri lalu dimainkan teman-teman saya.”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463040"/>
            <a:ext cx="46021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626B7A"/>
                </a:solidFill>
                <a:latin typeface="Arial"/>
              </a:rPr>
              <a:t>ATURAN 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874519"/>
            <a:ext cx="4602175" cy="749808"/>
          </a:xfrm>
          <a:prstGeom prst="roundRect">
            <a:avLst>
              <a:gd name="adj" fmla="val 6000"/>
            </a:avLst>
          </a:prstGeom>
          <a:solidFill>
            <a:srgbClr val="F5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993391"/>
            <a:ext cx="4090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C4DFF"/>
                </a:solidFill>
                <a:latin typeface="Arial"/>
              </a:rPr>
              <a:t>Berdiri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26B7A"/>
                </a:solidFill>
                <a:latin typeface="Arial"/>
              </a:rPr>
              <a:t>Supaya semua teman bisa melihat.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706623"/>
            <a:ext cx="4602175" cy="749808"/>
          </a:xfrm>
          <a:prstGeom prst="roundRect">
            <a:avLst>
              <a:gd name="adj" fmla="val 6000"/>
            </a:avLst>
          </a:prstGeom>
          <a:solidFill>
            <a:srgbClr val="F5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2825495"/>
            <a:ext cx="4090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C4DFF"/>
                </a:solidFill>
                <a:latin typeface="Arial"/>
              </a:rPr>
              <a:t>Cukup 1 menit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26B7A"/>
                </a:solidFill>
                <a:latin typeface="Arial"/>
              </a:rPr>
              <a:t>Singkat saja, tidak perlu panjang.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3538727"/>
            <a:ext cx="4602175" cy="749808"/>
          </a:xfrm>
          <a:prstGeom prst="roundRect">
            <a:avLst>
              <a:gd name="adj" fmla="val 6000"/>
            </a:avLst>
          </a:prstGeom>
          <a:solidFill>
            <a:srgbClr val="F5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3657599"/>
            <a:ext cx="4090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C4DFF"/>
                </a:solidFill>
                <a:latin typeface="Arial"/>
              </a:rPr>
              <a:t>Suara jelas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26B7A"/>
                </a:solidFill>
                <a:latin typeface="Arial"/>
              </a:rPr>
              <a:t>Yang di belakang juga harus dengar.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4370831"/>
            <a:ext cx="4602175" cy="749808"/>
          </a:xfrm>
          <a:prstGeom prst="roundRect">
            <a:avLst>
              <a:gd name="adj" fmla="val 6000"/>
            </a:avLst>
          </a:prstGeom>
          <a:solidFill>
            <a:srgbClr val="F5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6912" y="4489703"/>
            <a:ext cx="4090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C4DFF"/>
                </a:solidFill>
                <a:latin typeface="Arial"/>
              </a:rPr>
              <a:t>Jujur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26B7A"/>
                </a:solidFill>
                <a:latin typeface="Arial"/>
              </a:rPr>
              <a:t>Tidak ada jawaban yang salah.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94960"/>
            <a:ext cx="6035040" cy="82296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55955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Kak Fauzi akan mencatat motivasi kalian — nanti kita buka lagi di akhir kelas.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Perkenalan  ·  Coding Scratch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nturo-k2-197.jpg"/>
          <p:cNvPicPr>
            <a:picLocks noChangeAspect="1"/>
          </p:cNvPicPr>
          <p:nvPr/>
        </p:nvPicPr>
        <p:blipFill>
          <a:blip r:embed="rId2"/>
          <a:srcRect l="19333" r="19333"/>
          <a:stretch>
            <a:fillRect/>
          </a:stretch>
        </p:blipFill>
        <p:spPr>
          <a:xfrm>
            <a:off x="0" y="0"/>
            <a:ext cx="63093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09360" y="0"/>
            <a:ext cx="5882335" cy="6858000"/>
          </a:xfrm>
          <a:prstGeom prst="rect">
            <a:avLst/>
          </a:prstGeom>
          <a:solidFill>
            <a:srgbClr val="5FB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463040"/>
            <a:ext cx="47850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F0D7"/>
                </a:solidFill>
                <a:latin typeface="Arial"/>
              </a:rPr>
              <a:t>SAMPAI JUMPA DI SLIDE BERIKUTNYA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965960"/>
            <a:ext cx="478505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Selamat datang di kelas Coding Scratch!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977639"/>
            <a:ext cx="478505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BF6E7"/>
                </a:solidFill>
                <a:latin typeface="Arial"/>
              </a:rPr>
              <a:t>Hari ini kita mulai dari blok. Suatu hari nanti, mungkin dari kalian lahir aplikasi yang dipakai sejuta orang.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5349240"/>
            <a:ext cx="478505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Moh Fauzi Slamet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7F4E1"/>
                </a:solidFill>
                <a:latin typeface="Arial"/>
              </a:rPr>
              <a:t>ziiidev.vercel.app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F4E1"/>
                </a:solidFill>
                <a:latin typeface="Arial"/>
              </a:rPr>
              <a:t>github.com/MohFauziSlamet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