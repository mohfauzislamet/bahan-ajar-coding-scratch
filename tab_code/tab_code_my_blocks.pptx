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11.png"/><Relationship Id="rId5" Type="http://schemas.openxmlformats.org/officeDocument/2006/relationships/image" Target="../media/image15.png"/><Relationship Id="rId6" Type="http://schemas.openxmlformats.org/officeDocument/2006/relationships/image" Target="../media/image3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FF6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DDE3"/>
                </a:solidFill>
                <a:latin typeface="Arial"/>
              </a:rPr>
              <a:t>BAHAN AJAR SCRATCH  |  TAB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Arial"/>
              </a:rPr>
              <a:t>My Blocks (Blok Buatan Sendiri)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88920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FE8EB"/>
                </a:solidFill>
                <a:latin typeface="Arial"/>
              </a:rPr>
              <a:t>Dibuat sendiri oleh pengguna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617720"/>
            <a:ext cx="110944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Membuat blok perintah sendiri — setara fungsi / prosedur di bahasa pemrograman lain.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4924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Materi lanjut. Ajarkan setelah siswa menguasai loop, kondisi, dan variabel.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6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D4DB"/>
                </a:solidFill>
                <a:latin typeface="Arial"/>
              </a:rPr>
              <a:t>MY BLOCKS (BLOK BUATAN SENDIRI)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Peta Kategori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364327" cy="960120"/>
          </a:xfrm>
          <a:prstGeom prst="roundRect">
            <a:avLst>
              <a:gd name="adj" fmla="val 6000"/>
            </a:avLst>
          </a:prstGeom>
          <a:solidFill>
            <a:srgbClr val="FF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17904"/>
            <a:ext cx="5035143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6680"/>
                </a:solidFill>
                <a:latin typeface="Arial"/>
              </a:rPr>
              <a:t>Konsep yang diajarkan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Dekomposisi, abstraksi, dan DRY (Don't Repeat Yourself)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727" y="1417320"/>
            <a:ext cx="5364327" cy="960120"/>
          </a:xfrm>
          <a:prstGeom prst="roundRect">
            <a:avLst>
              <a:gd name="adj" fmla="val 6000"/>
            </a:avLst>
          </a:prstGeom>
          <a:solidFill>
            <a:srgbClr val="FF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3319" y="1517904"/>
            <a:ext cx="5035143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6680"/>
                </a:solidFill>
                <a:latin typeface="Arial"/>
              </a:rPr>
              <a:t>Membuat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Make a Block &gt; beri nama &gt; muncul blok di palet + blok define di area kode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60320"/>
            <a:ext cx="5364327" cy="960120"/>
          </a:xfrm>
          <a:prstGeom prst="roundRect">
            <a:avLst>
              <a:gd name="adj" fmla="val 6000"/>
            </a:avLst>
          </a:prstGeom>
          <a:solidFill>
            <a:srgbClr val="FF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660904"/>
            <a:ext cx="5035143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6680"/>
                </a:solidFill>
                <a:latin typeface="Arial"/>
              </a:rPr>
              <a:t>Tiga jenis input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number or text, boolean, dan label text (teks hiasan)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2560320"/>
            <a:ext cx="5364327" cy="960120"/>
          </a:xfrm>
          <a:prstGeom prst="roundRect">
            <a:avLst>
              <a:gd name="adj" fmla="val 6000"/>
            </a:avLst>
          </a:prstGeom>
          <a:solidFill>
            <a:srgbClr val="FF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3319" y="2660904"/>
            <a:ext cx="5035143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6680"/>
                </a:solidFill>
                <a:latin typeface="Arial"/>
              </a:rPr>
              <a:t>Opsi khusus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Run without screen refresh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03320"/>
            <a:ext cx="5364327" cy="960120"/>
          </a:xfrm>
          <a:prstGeom prst="roundRect">
            <a:avLst>
              <a:gd name="adj" fmla="val 6000"/>
            </a:avLst>
          </a:prstGeom>
          <a:solidFill>
            <a:srgbClr val="FF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803904"/>
            <a:ext cx="5035143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6680"/>
                </a:solidFill>
                <a:latin typeface="Arial"/>
              </a:rPr>
              <a:t>Kemampuan lanjut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Rekursi — blok memanggil dirinya sendiri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8727" y="3703320"/>
            <a:ext cx="5364327" cy="960120"/>
          </a:xfrm>
          <a:prstGeom prst="roundRect">
            <a:avLst>
              <a:gd name="adj" fmla="val 6000"/>
            </a:avLst>
          </a:prstGeom>
          <a:solidFill>
            <a:srgbClr val="FF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3319" y="3803904"/>
            <a:ext cx="5035143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6680"/>
                </a:solidFill>
                <a:latin typeface="Arial"/>
              </a:rPr>
              <a:t>Keterbatasan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Belum ada custom reporter dan custom boolean block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937760"/>
            <a:ext cx="11094415" cy="77724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065776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B26A00"/>
                </a:solidFill>
                <a:latin typeface="Arial"/>
              </a:rPr>
              <a:t>Bekal wajib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Palet ini KOSONG saat pertama dibuka; hanya ada satu tombol: Make a Block.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My Blocks (Blok Buatan Sendiri)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6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D4DB"/>
                </a:solidFill>
                <a:latin typeface="Arial"/>
              </a:rPr>
              <a:t>MY BLOCKS  ·  BLOK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Mengapa My Blocks penting?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F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4252"/>
                </a:solidFill>
                <a:latin typeface="Arial"/>
              </a:rPr>
              <a:t>Stack  (perintah bertumpuk)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153405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Tanpa My Blocks: berulang-ulang</a:t>
            </a:r>
          </a:p>
        </p:txBody>
      </p:sp>
      <p:pic>
        <p:nvPicPr>
          <p:cNvPr id="8" name="Picture 7" descr="01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1426026" cy="28376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00618" y="1618488"/>
            <a:ext cx="153405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Dengan My Blocks: rapi</a:t>
            </a:r>
          </a:p>
        </p:txBody>
      </p:sp>
      <p:pic>
        <p:nvPicPr>
          <p:cNvPr id="10" name="Picture 9" descr="01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0618" y="1837943"/>
            <a:ext cx="1534058" cy="237671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108996" y="1618488"/>
            <a:ext cx="153405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Sekali diperbaiki, semua pemakaian ikut berubah</a:t>
            </a:r>
          </a:p>
        </p:txBody>
      </p:sp>
      <p:pic>
        <p:nvPicPr>
          <p:cNvPr id="12" name="Picture 11" descr="01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8996" y="1837943"/>
            <a:ext cx="1390015" cy="260717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1801368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My Blocks membuat kita bisa memberi NAMA pada sekumpulan blok, lalu memanggilnya berkali-kali.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382011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Mengubah delapan blok berulang menjadi satu blok bernama.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099815"/>
            <a:ext cx="5532120" cy="3099817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3246119"/>
            <a:ext cx="5093208" cy="2807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Mengajarkan tiga konsep besar sekaligus: DEKOMPOSISI (memecah masalah), ABSTRAKSI (menyembunyikan detail), dan DRY (tidak menyalin kode berulang).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My Blocks (Blok Buatan Sendiri)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6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D4DB"/>
                </a:solidFill>
                <a:latin typeface="Arial"/>
              </a:rPr>
              <a:t>MY BLOCKS  ·  BLOK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define (nama blok)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F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C6D1F"/>
                </a:solidFill>
                <a:latin typeface="Arial"/>
              </a:rPr>
              <a:t>Hat  (pemicu, paling atas)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Membuat blok baru</a:t>
            </a:r>
          </a:p>
        </p:txBody>
      </p:sp>
      <p:pic>
        <p:nvPicPr>
          <p:cNvPr id="8" name="Picture 7" descr="02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2149208" cy="213316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4135705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Blok tanpa input</a:t>
            </a:r>
          </a:p>
        </p:txBody>
      </p:sp>
      <p:pic>
        <p:nvPicPr>
          <p:cNvPr id="10" name="Picture 9" descr="02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4355161"/>
            <a:ext cx="1772295" cy="184447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04807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Dipanggil berkali-kali</a:t>
            </a:r>
          </a:p>
        </p:txBody>
      </p:sp>
      <p:pic>
        <p:nvPicPr>
          <p:cNvPr id="12" name="Picture 11" descr="02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807" y="1837943"/>
            <a:ext cx="1435478" cy="3929523"/>
          </a:xfrm>
          <a:prstGeom prst="rect">
            <a:avLst/>
          </a:prstGeom>
        </p:spPr>
      </p:pic>
      <p:pic>
        <p:nvPicPr>
          <p:cNvPr id="13" name="Picture 12" descr="02-def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2140655" cy="16916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3602735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kepala blok buatan sendiri. Semua blok di bawahnya jalan tiap blok itu dipanggil.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83378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Menampung ISI dari blok buatan sendiri. Di bawah blok inilah perintahnya disusun.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125210"/>
            <a:ext cx="5532120" cy="1074422"/>
          </a:xfrm>
          <a:prstGeom prst="roundRect">
            <a:avLst>
              <a:gd name="adj" fmla="val 6000"/>
            </a:avLst>
          </a:prstGeom>
          <a:solidFill>
            <a:srgbClr val="FF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5271514"/>
            <a:ext cx="5093208" cy="7818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3261E"/>
                </a:solidFill>
                <a:latin typeface="Arial"/>
              </a:rPr>
              <a:t>PERHATIAN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Blok define TIDAK BERJALAN SENDIRI. Ia hanya "resep". Yang berjalan adalah blok pemanggilnya yang dipakai di script lain.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My Blocks (Blok Buatan Sendiri)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6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D4DB"/>
                </a:solidFill>
                <a:latin typeface="Arial"/>
              </a:rPr>
              <a:t>MY BLOCKS  ·  BLOK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Input: number or 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F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4252"/>
                </a:solidFill>
                <a:latin typeface="Arial"/>
              </a:rPr>
              <a:t>Stack  (perintah bertumpuk)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Satu input angka</a:t>
            </a:r>
          </a:p>
        </p:txBody>
      </p:sp>
      <p:pic>
        <p:nvPicPr>
          <p:cNvPr id="8" name="Picture 7" descr="03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1327147" cy="17901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04807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Dua input sekaligus</a:t>
            </a:r>
          </a:p>
        </p:txBody>
      </p:sp>
      <p:pic>
        <p:nvPicPr>
          <p:cNvPr id="10" name="Picture 9" descr="03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4807" y="1837943"/>
            <a:ext cx="1845660" cy="213578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04807" y="4138317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Input berupa teks</a:t>
            </a:r>
          </a:p>
        </p:txBody>
      </p:sp>
      <p:pic>
        <p:nvPicPr>
          <p:cNvPr id="12" name="Picture 11" descr="03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807" y="4357773"/>
            <a:ext cx="2438247" cy="1345665"/>
          </a:xfrm>
          <a:prstGeom prst="rect">
            <a:avLst/>
          </a:prstGeom>
        </p:spPr>
      </p:pic>
      <p:pic>
        <p:nvPicPr>
          <p:cNvPr id="13" name="Picture 12" descr="03-input-angk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2696673" cy="1691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3602736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menambah kolom isian supaya blok buatan bisa diberi angka atau teks yang berbeda-beda.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83379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Membuat lubang isian yang bisa diisi angka atau teks, agar satu blok bisa dipakai untuk banyak nilai.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125211"/>
            <a:ext cx="5532120" cy="1074421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5271515"/>
            <a:ext cx="5093208" cy="7818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Nama input muncul sebagai blok oval kecil di dalam define — tarik dari situ untuk memakainya di dalam perintah.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My Blocks (Blok Buatan Sendiri)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6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D4DB"/>
                </a:solidFill>
                <a:latin typeface="Arial"/>
              </a:rPr>
              <a:t>MY BLOCKS  ·  BLOK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Input: boolean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F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4F8B"/>
                </a:solidFill>
                <a:latin typeface="Arial"/>
              </a:rPr>
              <a:t>Boolean  (masuk lubang segi enam)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Menyalakan atau mematikan suara</a:t>
            </a:r>
          </a:p>
        </p:txBody>
      </p:sp>
      <p:pic>
        <p:nvPicPr>
          <p:cNvPr id="8" name="Picture 7" descr="04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2438247" cy="232148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04807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Pilihan di dalam blok</a:t>
            </a:r>
          </a:p>
        </p:txBody>
      </p:sp>
      <p:pic>
        <p:nvPicPr>
          <p:cNvPr id="10" name="Picture 9" descr="04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4807" y="1837943"/>
            <a:ext cx="1449211" cy="207422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04807" y="4076763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Memanggil dengan syarat langsung</a:t>
            </a:r>
          </a:p>
        </p:txBody>
      </p:sp>
      <p:pic>
        <p:nvPicPr>
          <p:cNvPr id="12" name="Picture 11" descr="04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807" y="4296219"/>
            <a:ext cx="2438247" cy="398361"/>
          </a:xfrm>
          <a:prstGeom prst="rect">
            <a:avLst/>
          </a:prstGeom>
        </p:spPr>
      </p:pic>
      <p:pic>
        <p:nvPicPr>
          <p:cNvPr id="13" name="Picture 12" descr="04-input-boole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2716574" cy="1691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3602736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menambah kolom heksagon supaya blok buatan bisa diberi syarat benar atau salah.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83379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Membuat lubang segi enam yang menerima kondisi benar atau salah.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125211"/>
            <a:ext cx="5532120" cy="1074421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5271515"/>
            <a:ext cx="5093208" cy="7818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Lubangnya segi enam, jadi hanya menerima blok kondisi. Di dalam define, nama input itu dipakai langsung sebagai kondisi — tanpa dibandingkan dengan apa pun.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My Blocks (Blok Buatan Sendiri)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6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D4DB"/>
                </a:solidFill>
                <a:latin typeface="Arial"/>
              </a:rPr>
              <a:t>MY BLOCKS  ·  BLOK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Add a label 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F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4252"/>
                </a:solidFill>
                <a:latin typeface="Arial"/>
              </a:rPr>
              <a:t>Stack  (perintah bertumpuk)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Label membuat blok terbaca seperti kalimat</a:t>
            </a:r>
          </a:p>
        </p:txBody>
      </p:sp>
      <p:pic>
        <p:nvPicPr>
          <p:cNvPr id="8" name="Picture 7" descr="05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2438247" cy="164526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04807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Tanpa label vs dengan label</a:t>
            </a:r>
          </a:p>
        </p:txBody>
      </p:sp>
      <p:pic>
        <p:nvPicPr>
          <p:cNvPr id="10" name="Picture 9" descr="05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4807" y="1837943"/>
            <a:ext cx="2438247" cy="146739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04807" y="3469931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Label boleh di depan input</a:t>
            </a:r>
          </a:p>
        </p:txBody>
      </p:sp>
      <p:pic>
        <p:nvPicPr>
          <p:cNvPr id="12" name="Picture 11" descr="05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807" y="3689387"/>
            <a:ext cx="2416014" cy="2000993"/>
          </a:xfrm>
          <a:prstGeom prst="rect">
            <a:avLst/>
          </a:prstGeom>
        </p:spPr>
      </p:pic>
      <p:pic>
        <p:nvPicPr>
          <p:cNvPr id="13" name="Picture 12" descr="05-label-tek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3831067" cy="1691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3602736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menambah tulisan penjelas di dalam blok supaya lebih mudah dibaca.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83379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Menambahkan teks hiasan di dalam blok — tidak bisa diisi, hanya membuat blok lebih mudah dibaca.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125211"/>
            <a:ext cx="5532120" cy="1074421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5271515"/>
            <a:ext cx="5093208" cy="7818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Contoh: "gambar persegi (100) berwarna (merah)" — kata "berwarna" adalah label, bukan input.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My Blocks (Blok Buatan Sendiri)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6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D4DB"/>
                </a:solidFill>
                <a:latin typeface="Arial"/>
              </a:rPr>
              <a:t>MY BLOCKS  ·  BLOK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Opsi: Run without screen refresh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F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4252"/>
                </a:solidFill>
                <a:latin typeface="Arial"/>
              </a:rPr>
              <a:t>Stack  (perintah bertumpuk)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Gambar langsung jadi, tidak terlihat digambar</a:t>
            </a:r>
          </a:p>
        </p:txBody>
      </p:sp>
      <p:pic>
        <p:nvPicPr>
          <p:cNvPr id="8" name="Picture 7" descr="06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1616865" cy="198881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04807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Perhitungan berat jadi seketika</a:t>
            </a:r>
          </a:p>
        </p:txBody>
      </p:sp>
      <p:pic>
        <p:nvPicPr>
          <p:cNvPr id="10" name="Picture 9" descr="06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4807" y="1837943"/>
            <a:ext cx="1654819" cy="198881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04807" y="3991356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JANGAN dipakai untuk animasi — gerakannya hilang</a:t>
            </a:r>
          </a:p>
        </p:txBody>
      </p:sp>
      <p:pic>
        <p:nvPicPr>
          <p:cNvPr id="12" name="Picture 11" descr="06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807" y="4210812"/>
            <a:ext cx="1449864" cy="198881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1801368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membuat blok jalan sampai selesai dalam sekejap tanpa menggambar ulang layar. Cocok untuk menggambar.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382011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Menjalankan seluruh isi blok dalam SATU FRAME sehingga hasilnya muncul seketika.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PARAMETER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•  Tidak dicentang = layar diperbarui tiap perulangan (gerakan terlihat)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F2433"/>
                </a:solidFill>
                <a:latin typeface="Arial"/>
              </a:rPr>
              <a:t>•  Dicentang = hasil muncul seketika (cocok untuk menggambar dengan Pen)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18787"/>
            <a:ext cx="5532120" cy="2180845"/>
          </a:xfrm>
          <a:prstGeom prst="roundRect">
            <a:avLst>
              <a:gd name="adj" fmla="val 6000"/>
            </a:avLst>
          </a:prstGeom>
          <a:solidFill>
            <a:srgbClr val="FF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4165091"/>
            <a:ext cx="5093208" cy="18882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3261E"/>
                </a:solidFill>
                <a:latin typeface="Arial"/>
              </a:rPr>
              <a:t>PERHATIAN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JANGAN dicentang bila blok memuat wait atau loop tak berujung seperti forever — proyek akan MEMBEKU sampai setengah detik atau lebih.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My Blocks (Blok Buatan Sendiri)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6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D4DB"/>
                </a:solidFill>
                <a:latin typeface="Arial"/>
              </a:rPr>
              <a:t>MY BLOCKS  ·  BLOK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Rekursi: blok memanggil dirinya sendiri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F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4252"/>
                </a:solidFill>
                <a:latin typeface="Arial"/>
              </a:rPr>
              <a:t>Stack  (perintah bertumpuk)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Spiral memanggil dirinya sendiri</a:t>
            </a:r>
          </a:p>
        </p:txBody>
      </p:sp>
      <p:pic>
        <p:nvPicPr>
          <p:cNvPr id="8" name="Picture 7" descr="07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1661627" cy="214279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4145329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Hitung mundur</a:t>
            </a:r>
          </a:p>
        </p:txBody>
      </p:sp>
      <p:pic>
        <p:nvPicPr>
          <p:cNvPr id="10" name="Picture 9" descr="07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4364785"/>
            <a:ext cx="1764275" cy="183484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04807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Wajib ada penghenti — kiri macet, kanan aman</a:t>
            </a:r>
          </a:p>
        </p:txBody>
      </p:sp>
      <p:pic>
        <p:nvPicPr>
          <p:cNvPr id="12" name="Picture 11" descr="07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807" y="1837943"/>
            <a:ext cx="1661627" cy="3169280"/>
          </a:xfrm>
          <a:prstGeom prst="rect">
            <a:avLst/>
          </a:prstGeom>
        </p:spPr>
      </p:pic>
      <p:pic>
        <p:nvPicPr>
          <p:cNvPr id="13" name="Picture 12" descr="07-rekurs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801368"/>
            <a:ext cx="1281095" cy="1691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3602736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blok buatan yang memanggil dirinya sendiri. Dipakai untuk pola berulang seperti spiral.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83379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Blok buatan sendiri boleh memanggil dirinya sendiri untuk menyelesaikan masalah bertingkat.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125211"/>
            <a:ext cx="5532120" cy="1074421"/>
          </a:xfrm>
          <a:prstGeom prst="roundRect">
            <a:avLst>
              <a:gd name="adj" fmla="val 6000"/>
            </a:avLst>
          </a:prstGeom>
          <a:solidFill>
            <a:srgbClr val="FF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5271515"/>
            <a:ext cx="5093208" cy="7818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3261E"/>
                </a:solidFill>
                <a:latin typeface="Arial"/>
              </a:rPr>
              <a:t>PERHATIAN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SYARAT MUTLAK: harus ada KONDISI BERHENTI. Tanpa itu blok memanggil dirinya tanpa akhir dan proyek macet.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My Blocks (Blok Buatan Sendiri)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6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D4DB"/>
                </a:solidFill>
                <a:latin typeface="Arial"/>
              </a:rPr>
              <a:t>MY BLOCKS  ·  BLOK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Keterbatasan &amp; jalan keluarnya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F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6B4A"/>
                </a:solidFill>
                <a:latin typeface="Arial"/>
              </a:rPr>
              <a:t>Reporter  (masuk lubang oval)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Tidak bisa mengembalikan nilai — titip di variabel</a:t>
            </a:r>
          </a:p>
        </p:txBody>
      </p:sp>
      <p:pic>
        <p:nvPicPr>
          <p:cNvPr id="8" name="Picture 7" descr="08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2438247" cy="2244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4246736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Hasilnya dibaca setelah blok selesai</a:t>
            </a:r>
          </a:p>
        </p:txBody>
      </p:sp>
      <p:pic>
        <p:nvPicPr>
          <p:cNvPr id="10" name="Picture 9" descr="08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4466192"/>
            <a:ext cx="2210452" cy="961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04807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Tanpa refresh, wait di dalamnya tidak terasa</a:t>
            </a:r>
          </a:p>
        </p:txBody>
      </p:sp>
      <p:pic>
        <p:nvPicPr>
          <p:cNvPr id="12" name="Picture 11" descr="08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807" y="1837943"/>
            <a:ext cx="1611436" cy="302038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1801368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blok buatan tidak bisa mengembalikan nilai seperti reporter; siasatnya pakai variabel.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382011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Scratch belum punya custom reporter dan custom boolean block.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099815"/>
            <a:ext cx="5532120" cy="3099817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3246119"/>
            <a:ext cx="5093208" cy="2807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Blok buatan tidak bisa "mengembalikan nilai". Jalan keluarnya: simpan hasil ke VARIABEL, lalu baca variabel itu setelah blok dipanggil.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My Blocks (Blok Buatan Sendiri)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6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D4DB"/>
                </a:solidFill>
                <a:latin typeface="Arial"/>
              </a:rPr>
              <a:t>MY BLOCKS  ·  BLOK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Blok bersifat lokal per sprite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91840" cy="329184"/>
          </a:xfrm>
          <a:prstGeom prst="roundRect">
            <a:avLst>
              <a:gd name="adj" fmla="val 6000"/>
            </a:avLst>
          </a:prstGeom>
          <a:solidFill>
            <a:srgbClr val="FF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B4252"/>
                </a:solidFill>
                <a:latin typeface="Arial"/>
              </a:rPr>
              <a:t>Stack  (perintah bertumpuk)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508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CONTOH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Blok hanya ada di sprite tempat ia dibuat</a:t>
            </a:r>
          </a:p>
        </p:txBody>
      </p:sp>
      <p:pic>
        <p:nvPicPr>
          <p:cNvPr id="8" name="Picture 7" descr="09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37943"/>
            <a:ext cx="1762478" cy="166202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3664562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Pakai broadcast untuk menyuruh sprite lain</a:t>
            </a:r>
          </a:p>
        </p:txBody>
      </p:sp>
      <p:pic>
        <p:nvPicPr>
          <p:cNvPr id="10" name="Picture 9" descr="09-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884018"/>
            <a:ext cx="2438247" cy="173508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04807" y="1618488"/>
            <a:ext cx="243824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2433"/>
                </a:solidFill>
                <a:latin typeface="Arial"/>
              </a:rPr>
              <a:t>Menyalin sprite ikut membawa My Blocks-nya</a:t>
            </a:r>
          </a:p>
        </p:txBody>
      </p:sp>
      <p:pic>
        <p:nvPicPr>
          <p:cNvPr id="12" name="Picture 11" descr="09-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807" y="1837943"/>
            <a:ext cx="1607234" cy="28674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1801368"/>
            <a:ext cx="5532120" cy="4160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Artinya:  blok buatan hanya ada di sprite tempat ia dibuat; sprite lain tidak melihatnya.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382011"/>
            <a:ext cx="55321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Blok buatan sendiri hanya tersedia di sprite tempat ia dibuat.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099815"/>
            <a:ext cx="5532120" cy="3099817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3246119"/>
            <a:ext cx="5093208" cy="28072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Arial"/>
              </a:rPr>
              <a:t>Untuk memakainya di sprite lain: duplicate sprite, atau tarik script ke kartu sprite tujuan, atau simpan lewat Backpack.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My Blocks (Blok Buatan Sendiri)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6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D4DB"/>
                </a:solidFill>
                <a:latin typeface="Arial"/>
              </a:rPr>
              <a:t>MY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Yang Sering Tertukar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4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5877"/>
                <a:gridCol w="6878537"/>
              </a:tblGrid>
              <a:tr h="41148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Pasangan blok</a:t>
                      </a:r>
                    </a:p>
                  </a:txBody>
                  <a:tcPr marL="109728" marR="109728" anchor="ctr">
                    <a:solidFill>
                      <a:srgbClr val="FF668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Beda utama</a:t>
                      </a:r>
                    </a:p>
                  </a:txBody>
                  <a:tcPr marL="109728" marR="109728" anchor="ctr">
                    <a:solidFill>
                      <a:srgbClr val="FF668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define  vs  blok pemanggil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define adalah resep (tidak jalan sendiri); pemanggil yang menjalankan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My Blocks  vs  broadcast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My Blocks memanggil di sprite yang sama; broadcast lintas sprite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Input number/text  vs  boolean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Lubang oval untuk nilai; lubang segi enam untuk kondisi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Label  vs  input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Label hanya hiasan yang tidak bisa diisi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My Blocks (Blok Buatan Sendiri)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39896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LIHAT BEDANYA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50791"/>
            <a:ext cx="351525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433"/>
                </a:solidFill>
                <a:latin typeface="Arial"/>
              </a:rPr>
              <a:t>define  vs  blok pemanggil</a:t>
            </a:r>
          </a:p>
        </p:txBody>
      </p:sp>
      <p:pic>
        <p:nvPicPr>
          <p:cNvPr id="10" name="Picture 9" descr="02-define-sa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288536"/>
            <a:ext cx="1264900" cy="58000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392341"/>
            <a:ext cx="168447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6B7A"/>
                </a:solidFill>
                <a:latin typeface="Arial"/>
              </a:rPr>
              <a:t>tempat isi blok ditulis, sekali saja</a:t>
            </a:r>
          </a:p>
        </p:txBody>
      </p:sp>
      <p:pic>
        <p:nvPicPr>
          <p:cNvPr id="12" name="Picture 11" descr="01-pemangg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9421" y="4288536"/>
            <a:ext cx="740429" cy="35787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379421" y="5392341"/>
            <a:ext cx="168447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6B7A"/>
                </a:solidFill>
                <a:latin typeface="Arial"/>
              </a:rPr>
              <a:t>yang dipasang di script, boleh berkali-kali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8218" y="4050791"/>
            <a:ext cx="351525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433"/>
                </a:solidFill>
                <a:latin typeface="Arial"/>
              </a:rPr>
              <a:t>input angka  vs  input boolean</a:t>
            </a:r>
          </a:p>
        </p:txBody>
      </p:sp>
      <p:pic>
        <p:nvPicPr>
          <p:cNvPr id="15" name="Picture 14" descr="03-input-angk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8218" y="4288536"/>
            <a:ext cx="1672136" cy="104894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338218" y="5392341"/>
            <a:ext cx="168447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6B7A"/>
                </a:solidFill>
                <a:latin typeface="Arial"/>
              </a:rPr>
              <a:t>diisi angka atau teks</a:t>
            </a:r>
          </a:p>
        </p:txBody>
      </p:sp>
      <p:pic>
        <p:nvPicPr>
          <p:cNvPr id="17" name="Picture 16" descr="04-input-boole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8999" y="4288536"/>
            <a:ext cx="1684477" cy="104894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168999" y="5392341"/>
            <a:ext cx="168447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6B7A"/>
                </a:solidFill>
                <a:latin typeface="Arial"/>
              </a:rPr>
              <a:t>diisi blok benar/salah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7796" y="4050791"/>
            <a:ext cx="351525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433"/>
                </a:solidFill>
                <a:latin typeface="Arial"/>
              </a:rPr>
              <a:t>My Blocks  vs  broadcast</a:t>
            </a:r>
          </a:p>
        </p:txBody>
      </p:sp>
      <p:pic>
        <p:nvPicPr>
          <p:cNvPr id="20" name="Picture 19" descr="01-pemangg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796" y="4288536"/>
            <a:ext cx="740429" cy="35787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127796" y="5392341"/>
            <a:ext cx="168447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6B7A"/>
                </a:solidFill>
                <a:latin typeface="Arial"/>
              </a:rPr>
              <a:t>sprite ini saja, script menunggu</a:t>
            </a:r>
          </a:p>
        </p:txBody>
      </p:sp>
      <p:pic>
        <p:nvPicPr>
          <p:cNvPr id="22" name="Picture 21" descr="08-broadca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8577" y="4288536"/>
            <a:ext cx="1141495" cy="35787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958577" y="5392341"/>
            <a:ext cx="168447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6B7A"/>
                </a:solidFill>
                <a:latin typeface="Arial"/>
              </a:rPr>
              <a:t>semua sprite, tidak menunggu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6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D4DB"/>
                </a:solidFill>
                <a:latin typeface="Arial"/>
              </a:rPr>
              <a:t>MY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Pola yang Sering Dipakai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348477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6680"/>
                </a:solidFill>
                <a:latin typeface="Arial"/>
              </a:rPr>
              <a:t>Segi banyak</a:t>
            </a:r>
          </a:p>
        </p:txBody>
      </p:sp>
      <p:pic>
        <p:nvPicPr>
          <p:cNvPr id="6" name="Picture 5" descr="01-segi-bany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2411215" cy="3177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53458" y="1371600"/>
            <a:ext cx="348477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6680"/>
                </a:solidFill>
                <a:latin typeface="Arial"/>
              </a:rPr>
              <a:t>Reset semua</a:t>
            </a:r>
          </a:p>
        </p:txBody>
      </p:sp>
      <p:pic>
        <p:nvPicPr>
          <p:cNvPr id="8" name="Picture 7" descr="02-reset-semu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3458" y="1828800"/>
            <a:ext cx="1556403" cy="369343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58276" y="1371600"/>
            <a:ext cx="348477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6680"/>
                </a:solidFill>
                <a:latin typeface="Arial"/>
              </a:rPr>
              <a:t>Pohon fraktal (Pen)</a:t>
            </a:r>
          </a:p>
        </p:txBody>
      </p:sp>
      <p:pic>
        <p:nvPicPr>
          <p:cNvPr id="10" name="Picture 9" descr="03-pohon-frakt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8276" y="1828800"/>
            <a:ext cx="2370894" cy="43708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My Blocks (Blok Buatan Sendiri)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6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D4DB"/>
                </a:solidFill>
                <a:latin typeface="Arial"/>
              </a:rPr>
              <a:t>MY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Kesalahan Umum di Kelas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3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2101"/>
                <a:gridCol w="3661156"/>
                <a:gridCol w="3661156"/>
              </a:tblGrid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Kesalahan</a:t>
                      </a:r>
                    </a:p>
                  </a:txBody>
                  <a:tcPr marL="109728" marR="109728" anchor="ctr">
                    <a:solidFill>
                      <a:srgbClr val="FF668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Gejala</a:t>
                      </a:r>
                    </a:p>
                  </a:txBody>
                  <a:tcPr marL="109728" marR="109728" anchor="ctr">
                    <a:solidFill>
                      <a:srgbClr val="FF668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Perbaikan</a:t>
                      </a:r>
                    </a:p>
                  </a:txBody>
                  <a:tcPr marL="109728" marR="109728" anchor="ctr">
                    <a:solidFill>
                      <a:srgbClr val="FF668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Menyusun kode di area kode biasa, bukan di bawah define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Blok buatan tidak melakukan apa-apa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Sambungkan blok DI BAWAH define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Mengira define berjalan sendiri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Tidak terjadi apa-apa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define hanya resep; panggil bloknya dari script lain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Run without screen refresh pada blok berisi wait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Proyek membeku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Hilangkan centangnya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Rekursi tanpa kondisi berhenti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Proyek macet / hang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Selalu beri if sebagai penghenti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Nama blok terlalu umum (blok1)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Proyek tidak terbaca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Beri nama kata kerja: gambar persegi, reset semua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My Blocks (Blok Buatan Sendiri)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6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D4DB"/>
                </a:solidFill>
                <a:latin typeface="Arial"/>
              </a:rPr>
              <a:t>MY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Latihan Bertingkat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3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1329"/>
                <a:gridCol w="5547207"/>
                <a:gridCol w="4215877"/>
              </a:tblGrid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marL="109728" marR="109728" anchor="ctr">
                    <a:solidFill>
                      <a:srgbClr val="FF668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Tantangan</a:t>
                      </a:r>
                    </a:p>
                  </a:txBody>
                  <a:tcPr marL="109728" marR="109728" anchor="ctr">
                    <a:solidFill>
                      <a:srgbClr val="FF668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Blok kunci</a:t>
                      </a:r>
                    </a:p>
                  </a:txBody>
                  <a:tcPr marL="109728" marR="109728" anchor="ctr">
                    <a:solidFill>
                      <a:srgbClr val="FF668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**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Buat blok gambar persegi tanpa input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Make a Block, repeat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**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Tambahkan input sisi agar ukurannya bisa diatur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input number or text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**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Buat blok reset semua dan pakai di proyek lama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dekomposisi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***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Buat blok segi banyak (n) (panjang)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input ganda + 360/n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***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Buat blok hitung luas yang hasilnya ke variabel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jalan keluar reporter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****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Buat pohon fraktal dengan rekursi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rekursi + ekstensi Pen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My Blocks (Blok Buatan Sendiri)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6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D4DB"/>
                </a:solidFill>
                <a:latin typeface="Arial"/>
              </a:rPr>
              <a:t>MY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Cek Pemahaman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400"/>
              </a:spcAft>
            </a:pPr>
            <a:r>
              <a:rPr sz="2400" b="0" i="0">
                <a:solidFill>
                  <a:srgbClr val="1F2433"/>
                </a:solidFill>
                <a:latin typeface="Arial"/>
              </a:rPr>
              <a:t>1.  Apa fungsi blok define? Apakah ia berjalan sendiri?</a:t>
            </a:r>
          </a:p>
          <a:p>
            <a:pPr algn="l">
              <a:spcBef>
                <a:spcPts val="0"/>
              </a:spcBef>
              <a:spcAft>
                <a:spcPts val="3400"/>
              </a:spcAft>
            </a:pPr>
            <a:r>
              <a:rPr sz="2400" b="0" i="0">
                <a:solidFill>
                  <a:srgbClr val="1F2433"/>
                </a:solidFill>
                <a:latin typeface="Arial"/>
              </a:rPr>
              <a:t>2.  Sebutkan tiga jenis input yang bisa ditambahkan ke blok buatan sendiri.</a:t>
            </a:r>
          </a:p>
          <a:p>
            <a:pPr algn="l">
              <a:spcBef>
                <a:spcPts val="0"/>
              </a:spcBef>
              <a:spcAft>
                <a:spcPts val="3400"/>
              </a:spcAft>
            </a:pPr>
            <a:r>
              <a:rPr sz="2400" b="0" i="0">
                <a:solidFill>
                  <a:srgbClr val="1F2433"/>
                </a:solidFill>
                <a:latin typeface="Arial"/>
              </a:rPr>
              <a:t>3.  Kapan opsi run without screen refresh TIDAK boleh dicentang?</a:t>
            </a:r>
          </a:p>
          <a:p>
            <a:pPr algn="l">
              <a:spcBef>
                <a:spcPts val="0"/>
              </a:spcBef>
              <a:spcAft>
                <a:spcPts val="3400"/>
              </a:spcAft>
            </a:pPr>
            <a:r>
              <a:rPr sz="2400" b="0" i="0">
                <a:solidFill>
                  <a:srgbClr val="1F2433"/>
                </a:solidFill>
                <a:latin typeface="Arial"/>
              </a:rPr>
              <a:t>4.  Scratch tidak punya custom reporter block. Bagaimana cara sebuah blok buatan mengembalikan hasil hitungan?</a:t>
            </a:r>
          </a:p>
          <a:p>
            <a:pPr algn="l">
              <a:spcBef>
                <a:spcPts val="0"/>
              </a:spcBef>
              <a:spcAft>
                <a:spcPts val="3400"/>
              </a:spcAft>
            </a:pPr>
            <a:r>
              <a:rPr sz="2400" b="0" i="0">
                <a:solidFill>
                  <a:srgbClr val="1F2433"/>
                </a:solidFill>
                <a:latin typeface="Arial"/>
              </a:rPr>
              <a:t>5.  Apa syarat mutlak agar rekursi tidak membuat proyek macet?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My Blocks (Blok Buatan Sendiri)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6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D4DB"/>
                </a:solidFill>
                <a:latin typeface="Arial"/>
              </a:rPr>
              <a:t>MY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Kunci Jawaban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1900" b="0" i="0">
                <a:solidFill>
                  <a:srgbClr val="1F2433"/>
                </a:solidFill>
                <a:latin typeface="Arial"/>
              </a:rPr>
              <a:t>1.  define menyimpan isi / resep blok buatan. Ia TIDAK berjalan sendiri — baru dijalankan saat blok pemanggilnya dipakai.</a:t>
            </a:r>
          </a:p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1900" b="0" i="0">
                <a:solidFill>
                  <a:srgbClr val="1F2433"/>
                </a:solidFill>
                <a:latin typeface="Arial"/>
              </a:rPr>
              <a:t>2.  Input number or text, input boolean, dan label text (teks hiasan, bukan input sesungguhnya).</a:t>
            </a:r>
          </a:p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1900" b="0" i="0">
                <a:solidFill>
                  <a:srgbClr val="1F2433"/>
                </a:solidFill>
                <a:latin typeface="Arial"/>
              </a:rPr>
              <a:t>3.  Bila di dalam blok terdapat wait atau loop tak berujung seperti forever — proyek akan membeku.</a:t>
            </a:r>
          </a:p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1900" b="0" i="0">
                <a:solidFill>
                  <a:srgbClr val="1F2433"/>
                </a:solidFill>
                <a:latin typeface="Arial"/>
              </a:rPr>
              <a:t>4.  Simpan hasilnya ke sebuah VARIABEL, lalu baca variabel tersebut setelah blok dipanggil.</a:t>
            </a:r>
          </a:p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1900" b="0" i="0">
                <a:solidFill>
                  <a:srgbClr val="1F2433"/>
                </a:solidFill>
                <a:latin typeface="Arial"/>
              </a:rPr>
              <a:t>5.  Harus ada KONDISI BERHENTI (biasanya if) yang menghentikan pemanggilan pada suatu titik.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My Blocks (Blok Buatan Sendiri)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6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4884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DDE3"/>
                </a:solidFill>
                <a:latin typeface="Arial"/>
              </a:rPr>
              <a:t>RANGKUMAN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109441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•  My Blocks mengajarkan dekomposisi, abstraksi, dan DRY sekaligus.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•  define hanya resep — yang berjalan adalah blok pemanggilnya.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•  Belum ada custom reporter; nilai balik dititipkan lewat variabel.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