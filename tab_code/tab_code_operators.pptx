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57.png"/><Relationship Id="rId5" Type="http://schemas.openxmlformats.org/officeDocument/2006/relationships/image" Target="../media/image56.png"/><Relationship Id="rId6" Type="http://schemas.openxmlformats.org/officeDocument/2006/relationships/image" Target="../media/image52.png"/><Relationship Id="rId7" Type="http://schemas.openxmlformats.org/officeDocument/2006/relationships/image" Target="../media/image5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AF1DA"/>
                </a:solidFill>
                <a:latin typeface="Arial"/>
              </a:rPr>
              <a:t>BAHAN AJAR SCRATCH  |  TAB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Operators (Operator)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E6F5E6"/>
                </a:solidFill>
                <a:latin typeface="Arial"/>
              </a:rPr>
              <a:t>18 blok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Menghitung, membandingkan, mengolah teks, dan menyusun logika.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Semua blok di sini berbentuk Reporter atau Boolean — tidak bisa berdiri sendiri, harus dimasukkan ke lubang blok lain.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(OPERATOR)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Peta Kategori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E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9C059"/>
                </a:solidFill>
                <a:latin typeface="Arial"/>
              </a:rPr>
              <a:t>Aritmetika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+  -  *  /  mod  round  [abs] of 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E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3319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9C059"/>
                </a:solidFill>
                <a:latin typeface="Arial"/>
              </a:rPr>
              <a:t>Bilangan acak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pick random () to 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E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9C059"/>
                </a:solidFill>
                <a:latin typeface="Arial"/>
              </a:rPr>
              <a:t>Perbandingan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&lt;   =   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E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3319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9C059"/>
                </a:solidFill>
                <a:latin typeface="Arial"/>
              </a:rPr>
              <a:t>Logika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and, or, not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EE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803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9C059"/>
                </a:solidFill>
                <a:latin typeface="Arial"/>
              </a:rPr>
              <a:t>Pengolahan teks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join, letter () of, length of, contains ()?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06577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26A00"/>
                </a:solidFill>
                <a:latin typeface="Arial"/>
              </a:rPr>
              <a:t>Bekal wajib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Reporter (oval) masuk ke lubang oval; Boolean (segi enam) masuk ke lubang segi enam.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(() + ())   (() - ())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Menambah skor</a:t>
            </a:r>
          </a:p>
        </p:txBody>
      </p:sp>
      <p:pic>
        <p:nvPicPr>
          <p:cNvPr id="8" name="Picture 7" descr="0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4704304" cy="1052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055024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Mengurangi nyawa</a:t>
            </a:r>
          </a:p>
        </p:txBody>
      </p:sp>
      <p:pic>
        <p:nvPicPr>
          <p:cNvPr id="10" name="Picture 9" descr="0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274480"/>
            <a:ext cx="5150814" cy="1052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49156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Menghitung sisa waktu</a:t>
            </a:r>
          </a:p>
        </p:txBody>
      </p:sp>
      <p:pic>
        <p:nvPicPr>
          <p:cNvPr id="12" name="Picture 11" descr="0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711017"/>
            <a:ext cx="4991347" cy="1180062"/>
          </a:xfrm>
          <a:prstGeom prst="rect">
            <a:avLst/>
          </a:prstGeom>
        </p:spPr>
      </p:pic>
      <p:pic>
        <p:nvPicPr>
          <p:cNvPr id="13" name="Picture 12" descr="01-tambah-kura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708403" cy="13609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272028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menjumlah dan mengurangi dua angka.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44645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Penjumlahan dan pengurangan dua nilai.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62449"/>
            <a:ext cx="5532120" cy="1837183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508753"/>
            <a:ext cx="5093208" cy="1544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Lubangnya boleh diisi blok lain, jadi rumus panjang dibuat dengan menyusun beberapa operator bersarang. Scratch tidak punya blok satu-baris untuk itu.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(() * ())   (() / ())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Skor berlipat dua</a:t>
            </a:r>
          </a:p>
        </p:txBody>
      </p:sp>
      <p:pic>
        <p:nvPicPr>
          <p:cNvPr id="8" name="Picture 7" descr="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556922" cy="8067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80926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Nilai rata-rata</a:t>
            </a:r>
          </a:p>
        </p:txBody>
      </p:sp>
      <p:pic>
        <p:nvPicPr>
          <p:cNvPr id="10" name="Picture 9" descr="0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028716"/>
            <a:ext cx="4705894" cy="10022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19560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Mendekat setengah jarak tiap langkah</a:t>
            </a:r>
          </a:p>
        </p:txBody>
      </p:sp>
      <p:pic>
        <p:nvPicPr>
          <p:cNvPr id="12" name="Picture 11" descr="0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15059"/>
            <a:ext cx="5097033" cy="1784572"/>
          </a:xfrm>
          <a:prstGeom prst="rect">
            <a:avLst/>
          </a:prstGeom>
        </p:spPr>
      </p:pic>
      <p:pic>
        <p:nvPicPr>
          <p:cNvPr id="13" name="Picture 12" descr="02-kali-bag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650492" cy="13609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272028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mengalikan dan membagi dua angka.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44645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Perkalian dan pembagian dua nilai.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62449"/>
            <a:ext cx="5532120" cy="1837183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508753"/>
            <a:ext cx="5093208" cy="1544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Pembagian dengan 0 menghasilkan Infinity, bukan pesan kesalahan. Hasilnya bisa desimal panjang — bungkus dengan round bila perlu dirapikan.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(() mod ())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Genap atau ganjil</a:t>
            </a:r>
          </a:p>
        </p:txBody>
      </p:sp>
      <p:pic>
        <p:nvPicPr>
          <p:cNvPr id="8" name="Picture 7" descr="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932433" cy="18201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822667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Bonus tiap kelipatan lima</a:t>
            </a:r>
          </a:p>
        </p:txBody>
      </p:sp>
      <p:pic>
        <p:nvPicPr>
          <p:cNvPr id="10" name="Picture 9" descr="0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42123"/>
            <a:ext cx="2831314" cy="1197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40457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Sudut tidak pernah lewat 360</a:t>
            </a:r>
          </a:p>
        </p:txBody>
      </p:sp>
      <p:pic>
        <p:nvPicPr>
          <p:cNvPr id="12" name="Picture 11" descr="0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624035"/>
            <a:ext cx="3126891" cy="575596"/>
          </a:xfrm>
          <a:prstGeom prst="rect">
            <a:avLst/>
          </a:prstGeom>
        </p:spPr>
      </p:pic>
      <p:pic>
        <p:nvPicPr>
          <p:cNvPr id="13" name="Picture 12" descr="03-mo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055875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memberi SISA pembagian. Berguna untuk mengecek angka genap atau ganjil.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Melaporkan SISA pembagian. Contoh: (7) mod (2) = 1.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Genap/ganjil: ((angka) mod (2)) = (0)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Muncul dari sisi seberang: ((x) + (10)) mod (480)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Setiap 5 detik: ((detik) mod (5)) = (0)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41162"/>
            <a:ext cx="5532120" cy="145847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887466"/>
            <a:ext cx="5093208" cy="11658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Blok yang paling sering diabaikan padahal sangat berguna. Wajib diajarkan bersama materi bilangan genap-ganjil di Matematika.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(round ())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Membulatkan timer</a:t>
            </a:r>
          </a:p>
        </p:txBody>
      </p:sp>
      <p:pic>
        <p:nvPicPr>
          <p:cNvPr id="8" name="Picture 7" descr="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168396" cy="11064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10896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Membulatkan hasil bagi</a:t>
            </a:r>
          </a:p>
        </p:txBody>
      </p:sp>
      <p:pic>
        <p:nvPicPr>
          <p:cNvPr id="10" name="Picture 9" descr="0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328415"/>
            <a:ext cx="4241292" cy="1240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33544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Membulatkan posisi mouse</a:t>
            </a:r>
          </a:p>
        </p:txBody>
      </p:sp>
      <p:pic>
        <p:nvPicPr>
          <p:cNvPr id="12" name="Picture 11" descr="0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53000"/>
            <a:ext cx="3973068" cy="1106424"/>
          </a:xfrm>
          <a:prstGeom prst="rect">
            <a:avLst/>
          </a:prstGeom>
        </p:spPr>
      </p:pic>
      <p:pic>
        <p:nvPicPr>
          <p:cNvPr id="13" name="Picture 12" descr="04-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607058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membulatkan angka ke bilangan bulat terdekat.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Membulatkan ke bilangan bulat terdekat. Nilai tepat 0.5 dibulatkan KE ATAS.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33620"/>
            <a:ext cx="5532120" cy="2366012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9924"/>
            <a:ext cx="5093208" cy="2073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Wajib dipakai saat menampilkan hasil pembagian, agar tidak muncul angka seperti 3.3333333333 di layar.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([abs] of ())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Jarak selalu positif</a:t>
            </a:r>
          </a:p>
        </p:txBody>
      </p:sp>
      <p:pic>
        <p:nvPicPr>
          <p:cNvPr id="8" name="Picture 7" descr="0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5150815" cy="6867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68931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Akar kuadrat</a:t>
            </a:r>
          </a:p>
        </p:txBody>
      </p:sp>
      <p:pic>
        <p:nvPicPr>
          <p:cNvPr id="10" name="Picture 9" descr="0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908767"/>
            <a:ext cx="2023203" cy="5382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361164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Membulatkan ke bawah</a:t>
            </a:r>
          </a:p>
        </p:txBody>
      </p:sp>
      <p:pic>
        <p:nvPicPr>
          <p:cNvPr id="12" name="Picture 11" descr="0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831098"/>
            <a:ext cx="2858470" cy="686775"/>
          </a:xfrm>
          <a:prstGeom prst="rect">
            <a:avLst/>
          </a:prstGeom>
        </p:spPr>
      </p:pic>
      <p:pic>
        <p:nvPicPr>
          <p:cNvPr id="13" name="Picture 12" descr="05-abs-o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316480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kumpulan fungsi matematika: nilai mutlak, akar, pembulatan ke bawah, dan lainnya.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Menerapkan salah satu dari 14 fungsi matematika.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abs, floor, ceiling, sqrt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sin, cos, tan, asin, acos, atan (satuan DERAJAT)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ln, log, e^, 10^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41162"/>
            <a:ext cx="5532120" cy="145847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887466"/>
            <a:ext cx="5093208" cy="11658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Scratch memakai DERAJAT, bukan radian — memudahkan siswa SMP. Tidak ada blok pangkat umum; untuk kuadrat gunakan (x) * (x).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(pick random (1) to (10))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Muncul di tempat acak</a:t>
            </a:r>
          </a:p>
        </p:txBody>
      </p:sp>
      <p:pic>
        <p:nvPicPr>
          <p:cNvPr id="8" name="Picture 7" descr="0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5150815" cy="4857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488303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Soal penjumlahan acak</a:t>
            </a:r>
          </a:p>
        </p:txBody>
      </p:sp>
      <p:pic>
        <p:nvPicPr>
          <p:cNvPr id="10" name="Picture 9" descr="0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07759"/>
            <a:ext cx="3224493" cy="1423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296154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Peluang 1 dari 5</a:t>
            </a:r>
          </a:p>
        </p:txBody>
      </p:sp>
      <p:pic>
        <p:nvPicPr>
          <p:cNvPr id="12" name="Picture 11" descr="0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15610"/>
            <a:ext cx="3668385" cy="1222795"/>
          </a:xfrm>
          <a:prstGeom prst="rect">
            <a:avLst/>
          </a:prstGeom>
        </p:spPr>
      </p:pic>
      <p:pic>
        <p:nvPicPr>
          <p:cNvPr id="13" name="Picture 12" descr="06-pick-rand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358896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mengambil satu angka acak di antara dua batas itu.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Menghasilkan bilangan acak antara dua nilai, termasuk kedua ujungnya.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33620"/>
            <a:ext cx="5532120" cy="2366012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9924"/>
            <a:ext cx="5093208" cy="2073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Bila KEDUA input bilangan bulat, hasilnya bulat. Bila salah satu ditulis desimal (mis. 1.0), hasilnya bisa desimal — ini kerap membingungkan siswa.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(() &lt; ())   (() = ())   (() &gt; ())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Menang bila skor cukup</a:t>
            </a:r>
          </a:p>
        </p:txBody>
      </p:sp>
      <p:pic>
        <p:nvPicPr>
          <p:cNvPr id="8" name="Picture 7" descr="0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147447" cy="10886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Kalah bila nyawa habis</a:t>
            </a:r>
          </a:p>
        </p:txBody>
      </p:sp>
      <p:pic>
        <p:nvPicPr>
          <p:cNvPr id="10" name="Picture 9" descr="0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102708" cy="10886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091172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Tidak ada tanda lebih-dari-sama-dengan</a:t>
            </a:r>
          </a:p>
        </p:txBody>
      </p:sp>
      <p:pic>
        <p:nvPicPr>
          <p:cNvPr id="12" name="Picture 11" descr="0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310628"/>
            <a:ext cx="2438247" cy="2311488"/>
          </a:xfrm>
          <a:prstGeom prst="rect">
            <a:avLst/>
          </a:prstGeom>
        </p:spPr>
      </p:pic>
      <p:pic>
        <p:nvPicPr>
          <p:cNvPr id="13" name="Picture 12" descr="07-perbanding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737986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602736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membandingkan dua nilai. Hasilnya benar atau salah, dipakai di dalam blok if.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83379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Membandingkan dua nilai; menghasilkan benar atau salah.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01183"/>
            <a:ext cx="5532120" cy="1298449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047487"/>
            <a:ext cx="5093208" cy="10058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TIDAK ADA blok &gt;= atau &lt;=. Solusinya: &lt;not &lt;(skor) &lt; (10)&gt;&gt; untuk skor &gt;= 10, atau &lt;(skor) &gt; (9)&gt; bila nilainya pasti bilangan bulat.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(&lt;&gt; and &lt;&gt;)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Dua syarat harus benar dua-duanya</a:t>
            </a:r>
          </a:p>
        </p:txBody>
      </p:sp>
      <p:pic>
        <p:nvPicPr>
          <p:cNvPr id="8" name="Picture 7" descr="0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3792194" cy="11496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15213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Dua tombol ditekan bersamaan</a:t>
            </a:r>
          </a:p>
        </p:txBody>
      </p:sp>
      <p:pic>
        <p:nvPicPr>
          <p:cNvPr id="10" name="Picture 9" descr="0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371594"/>
            <a:ext cx="5150815" cy="10898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62606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Rentang angka</a:t>
            </a:r>
          </a:p>
        </p:txBody>
      </p:sp>
      <p:pic>
        <p:nvPicPr>
          <p:cNvPr id="12" name="Picture 11" descr="0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45524"/>
            <a:ext cx="3635430" cy="1149602"/>
          </a:xfrm>
          <a:prstGeom prst="rect">
            <a:avLst/>
          </a:prstGeom>
        </p:spPr>
      </p:pic>
      <p:pic>
        <p:nvPicPr>
          <p:cNvPr id="13" name="Picture 12" descr="08-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316480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hasilnya benar HANYA kalau kedua syarat benar.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Bernilai benar HANYA BILA kedua kondisi benar.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Kedua lubangnya berbentuk SEGI ENAM, jadi hanya bisa diisi blok kondisi — bukan angka dan bukan teks.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(&lt;&gt; or &lt;&gt;)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Salah satu tombol boleh</a:t>
            </a:r>
          </a:p>
        </p:txBody>
      </p:sp>
      <p:pic>
        <p:nvPicPr>
          <p:cNvPr id="8" name="Picture 7" descr="0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4474189" cy="12348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23737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Kena musuh mana pun</a:t>
            </a:r>
          </a:p>
        </p:txBody>
      </p:sp>
      <p:pic>
        <p:nvPicPr>
          <p:cNvPr id="10" name="Picture 9" descr="09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456834"/>
            <a:ext cx="5150815" cy="12348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85626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Selesai kalau menang ATAU kalah</a:t>
            </a:r>
          </a:p>
        </p:txBody>
      </p:sp>
      <p:pic>
        <p:nvPicPr>
          <p:cNvPr id="12" name="Picture 11" descr="09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75724"/>
            <a:ext cx="4135876" cy="964191"/>
          </a:xfrm>
          <a:prstGeom prst="rect">
            <a:avLst/>
          </a:prstGeom>
        </p:spPr>
      </p:pic>
      <p:pic>
        <p:nvPicPr>
          <p:cNvPr id="13" name="Picture 12" descr="09-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142744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hasilnya benar kalau SALAH SATU syarat saja sudah benar.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Bernilai benar bila SALAH SATU (atau keduanya) benar.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9592"/>
            <a:ext cx="5532120" cy="25900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755896"/>
            <a:ext cx="5093208" cy="2297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Bila salah satu sudah benar, sisanya tidak lagi menentukan hasil. Gunakan and bila kedua syarat memang wajib terpenuhi.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(not &lt;&gt;)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Jalan selama tidak kena dinding</a:t>
            </a:r>
          </a:p>
        </p:txBody>
      </p:sp>
      <p:pic>
        <p:nvPicPr>
          <p:cNvPr id="8" name="Picture 7" descr="10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760097" cy="14893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491895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Bukan jawaban yang benar</a:t>
            </a:r>
          </a:p>
        </p:txBody>
      </p:sp>
      <p:pic>
        <p:nvPicPr>
          <p:cNvPr id="10" name="Picture 9" descr="10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11351"/>
            <a:ext cx="2377509" cy="10521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928059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Membuat 'minimal 10'</a:t>
            </a:r>
          </a:p>
        </p:txBody>
      </p:sp>
      <p:pic>
        <p:nvPicPr>
          <p:cNvPr id="12" name="Picture 11" descr="10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47515"/>
            <a:ext cx="2234039" cy="1052116"/>
          </a:xfrm>
          <a:prstGeom prst="rect">
            <a:avLst/>
          </a:prstGeom>
        </p:spPr>
      </p:pic>
      <p:pic>
        <p:nvPicPr>
          <p:cNvPr id="13" name="Picture 12" descr="10-n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621536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membalik jawaban: yang benar jadi salah, yang salah jadi benar.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Membalik nilai: benar menjadi salah, salah menjadi benar.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7618"/>
            <a:ext cx="5532120" cy="2382014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63922"/>
            <a:ext cx="5093208" cy="208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Contoh di samping menunggu sampai tombol spasi DILEPAS. not juga dipakai untuk menyiasati blok &gt;= dan &lt;= yang tidak tersedia.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(join [apple] [banana])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Menyapa dengan nama</a:t>
            </a:r>
          </a:p>
        </p:txBody>
      </p:sp>
      <p:pic>
        <p:nvPicPr>
          <p:cNvPr id="8" name="Picture 7" descr="1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5150815" cy="833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835756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Papan skor</a:t>
            </a:r>
          </a:p>
        </p:txBody>
      </p:sp>
      <p:pic>
        <p:nvPicPr>
          <p:cNvPr id="10" name="Picture 9" descr="1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055212"/>
            <a:ext cx="3219259" cy="17421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96199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Menggabung tiga bagian</a:t>
            </a:r>
          </a:p>
        </p:txBody>
      </p:sp>
      <p:pic>
        <p:nvPicPr>
          <p:cNvPr id="12" name="Picture 11" descr="1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181447"/>
            <a:ext cx="4721580" cy="934216"/>
          </a:xfrm>
          <a:prstGeom prst="rect">
            <a:avLst/>
          </a:prstGeom>
        </p:spPr>
      </p:pic>
      <p:pic>
        <p:nvPicPr>
          <p:cNvPr id="13" name="Picture 12" descr="11-jo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996946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menyambung dua teks jadi satu, misalnya kata Skor ditambah angkanya.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Menyambung dua teks menjadi satu.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7618"/>
            <a:ext cx="5532120" cy="2382014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63922"/>
            <a:ext cx="5093208" cy="208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Hanya menerima DUA masukan; untuk tiga bagian harus disarangkan. Blok WAJIB untuk menampilkan kalimat yang memuat variabel.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(letter (1) of [apple])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Huruf pertama jawaban</a:t>
            </a:r>
          </a:p>
        </p:txBody>
      </p:sp>
      <p:pic>
        <p:nvPicPr>
          <p:cNvPr id="8" name="Picture 7" descr="1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064403" cy="504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50716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Mengeja satu per satu</a:t>
            </a:r>
          </a:p>
        </p:txBody>
      </p:sp>
      <p:pic>
        <p:nvPicPr>
          <p:cNvPr id="10" name="Picture 9" descr="1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26624"/>
            <a:ext cx="3234232" cy="1911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802701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Cek huruf awal</a:t>
            </a:r>
          </a:p>
        </p:txBody>
      </p:sp>
      <p:pic>
        <p:nvPicPr>
          <p:cNvPr id="12" name="Picture 11" descr="1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22157"/>
            <a:ext cx="3218940" cy="1177474"/>
          </a:xfrm>
          <a:prstGeom prst="rect">
            <a:avLst/>
          </a:prstGeom>
        </p:spPr>
      </p:pic>
      <p:pic>
        <p:nvPicPr>
          <p:cNvPr id="13" name="Picture 12" descr="12-letter-o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895600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mengambil satu huruf pada urutan tertentu dari sebuah teks.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Mengambil satu huruf pada posisi tertentu. letter (1) of [apple] = 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1646"/>
            <a:ext cx="5532120" cy="2157986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87950"/>
            <a:ext cx="5093208" cy="18653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Penomoran dimulai dari 1, BUKAN 0 — berbeda dari kebanyakan bahasa pemrograman. Sebutkan ini saat siswa nanti belajar Python.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(length of [apple])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Panjang jawaban</a:t>
            </a:r>
          </a:p>
        </p:txBody>
      </p:sp>
      <p:pic>
        <p:nvPicPr>
          <p:cNvPr id="8" name="Picture 7" descr="1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970399" cy="5728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2575427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Menolak nama terlalu pendek</a:t>
            </a:r>
          </a:p>
        </p:txBody>
      </p:sp>
      <p:pic>
        <p:nvPicPr>
          <p:cNvPr id="10" name="Picture 9" descr="1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94883"/>
            <a:ext cx="3272425" cy="13367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296222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Mengulang sebanyak jumlah huruf</a:t>
            </a:r>
          </a:p>
        </p:txBody>
      </p:sp>
      <p:pic>
        <p:nvPicPr>
          <p:cNvPr id="12" name="Picture 11" descr="1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515678"/>
            <a:ext cx="1909638" cy="1683953"/>
          </a:xfrm>
          <a:prstGeom prst="rect">
            <a:avLst/>
          </a:prstGeom>
        </p:spPr>
      </p:pic>
      <p:pic>
        <p:nvPicPr>
          <p:cNvPr id="13" name="Picture 12" descr="13-length-o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273046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208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menghitung ada berapa huruf dalam sebuah teks.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178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Menghitung jumlah KARAKTER dalam teks; spasi ikut dihitung. Hasilnya 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33620"/>
            <a:ext cx="5532120" cy="2366012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9924"/>
            <a:ext cx="5093208" cy="2073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Jangan tertukar dengan length of (list) di kategori Variables yang menghitung jumlah ITEM. Bedakan dari warnanya: hijau = teks, merah tua = list.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  ·  BLOK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&lt;[apple] contains [a]?&gt;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E7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Cek kata kunci di jawaban</a:t>
            </a:r>
          </a:p>
        </p:txBody>
      </p:sp>
      <p:pic>
        <p:nvPicPr>
          <p:cNvPr id="8" name="Picture 7" descr="1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9198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Menyaring kata terlarang</a:t>
            </a:r>
          </a:p>
        </p:txBody>
      </p:sp>
      <p:pic>
        <p:nvPicPr>
          <p:cNvPr id="10" name="Picture 9" descr="1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255536" cy="9198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2922391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Beda dengan sama dengan</a:t>
            </a:r>
          </a:p>
        </p:txBody>
      </p:sp>
      <p:pic>
        <p:nvPicPr>
          <p:cNvPr id="12" name="Picture 11" descr="1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141847"/>
            <a:ext cx="2438247" cy="1902715"/>
          </a:xfrm>
          <a:prstGeom prst="rect">
            <a:avLst/>
          </a:prstGeom>
        </p:spPr>
      </p:pic>
      <p:pic>
        <p:nvPicPr>
          <p:cNvPr id="13" name="Picture 12" descr="14-conta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532631" cy="608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2519171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bertanya: apakah teks itu memuat huruf atau kata tertentu?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4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Bernilai benar bila teks pertama memuat teks kedua.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17618"/>
            <a:ext cx="5532120" cy="2382014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63922"/>
            <a:ext cx="5093208" cy="20894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Tidak membedakan huruf besar-kecil. Sangat berguna untuk kuis agar jawaban "Kota Jakarta" tetap dianggap benar.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Yang Sering Tertukar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7"/>
                <a:gridCol w="6878537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Pasangan blok</a:t>
                      </a:r>
                    </a:p>
                  </a:txBody>
                  <a:tcPr marL="109728" marR="109728" anchor="ctr">
                    <a:solidFill>
                      <a:srgbClr val="59C0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Beda utama</a:t>
                      </a:r>
                    </a:p>
                  </a:txBody>
                  <a:tcPr marL="109728" marR="109728" anchor="ctr">
                    <a:solidFill>
                      <a:srgbClr val="59C059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=  pada teks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TIDAK membedakan huruf besar-kecil: [Halo] = [halo] bernilai BENAR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length of [teks]  vs  length of (list)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Hijau menghitung HURUF; merah tua menghitung ITEM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round  vs  floor  vs  ceiling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Terdekat vs selalu ke bawah vs selalu ke atas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and  vs  or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and butuh keduanya benar; or cukup salah satu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Tidak ada &gt;= dan &lt;=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Pakai &lt;not &lt;a &lt; b&gt;&gt; atau geser nilainya satu angka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23944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LIHAT BEDANYA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and  vs  or</a:t>
            </a:r>
          </a:p>
        </p:txBody>
      </p:sp>
      <p:pic>
        <p:nvPicPr>
          <p:cNvPr id="10" name="Picture 9" descr="08-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72583"/>
            <a:ext cx="1306285" cy="3428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052059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dua-duanya harus benar</a:t>
            </a:r>
          </a:p>
        </p:txBody>
      </p:sp>
      <p:pic>
        <p:nvPicPr>
          <p:cNvPr id="12" name="Picture 11" descr="09-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36107"/>
            <a:ext cx="1208314" cy="3428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salah satu benar sudah cukup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=  vs  contains</a:t>
            </a:r>
          </a:p>
        </p:txBody>
      </p:sp>
      <p:pic>
        <p:nvPicPr>
          <p:cNvPr id="15" name="Picture 14" descr="06-sama-deng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4672583"/>
            <a:ext cx="1224642" cy="3428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8218" y="5052059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isinya harus persis sama</a:t>
            </a:r>
          </a:p>
        </p:txBody>
      </p:sp>
      <p:pic>
        <p:nvPicPr>
          <p:cNvPr id="17" name="Picture 16" descr="14-conta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218" y="5436107"/>
            <a:ext cx="1992085" cy="3428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38218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cukup mengandung potongan itu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4434840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length teks  vs  length list</a:t>
            </a:r>
          </a:p>
        </p:txBody>
      </p:sp>
      <p:pic>
        <p:nvPicPr>
          <p:cNvPr id="20" name="Picture 19" descr="13-length-o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6" y="4672583"/>
            <a:ext cx="1281792" cy="3428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27796" y="5052059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jumlah HURUF dalam teks</a:t>
            </a:r>
          </a:p>
        </p:txBody>
      </p:sp>
      <p:pic>
        <p:nvPicPr>
          <p:cNvPr id="22" name="Picture 21" descr="15-length-of-l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7796" y="5436107"/>
            <a:ext cx="1526721" cy="3428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27796" y="5815583"/>
            <a:ext cx="351525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jumlah ISI dalam daftar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Pola yang Sering Dipakai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8718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9C059"/>
                </a:solidFill>
                <a:latin typeface="Arial"/>
              </a:rPr>
              <a:t>Tabel kebenaran</a:t>
            </a:r>
          </a:p>
        </p:txBody>
      </p:sp>
      <p:pic>
        <p:nvPicPr>
          <p:cNvPr id="6" name="Picture 5" descr="01-tabel-kebena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4316423" cy="43708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55867" y="1371600"/>
            <a:ext cx="538718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9C059"/>
                </a:solidFill>
                <a:latin typeface="Arial"/>
              </a:rPr>
              <a:t>Genap atau ganjil</a:t>
            </a:r>
          </a:p>
        </p:txBody>
      </p:sp>
      <p:pic>
        <p:nvPicPr>
          <p:cNvPr id="8" name="Picture 7" descr="02-genap-atau-ganj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67" y="1828800"/>
            <a:ext cx="3491224" cy="2557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5867" y="4660328"/>
            <a:ext cx="538718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9C059"/>
                </a:solidFill>
                <a:latin typeface="Arial"/>
              </a:rPr>
              <a:t>Blok bersarang</a:t>
            </a:r>
          </a:p>
        </p:txBody>
      </p:sp>
      <p:pic>
        <p:nvPicPr>
          <p:cNvPr id="10" name="Picture 9" descr="03-blok-bersar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867" y="5117528"/>
            <a:ext cx="5141621" cy="8886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59C0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Gejala</a:t>
                      </a:r>
                    </a:p>
                  </a:txBody>
                  <a:tcPr marL="109728" marR="109728" anchor="ctr">
                    <a:solidFill>
                      <a:srgbClr val="59C0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Perbaikan</a:t>
                      </a:r>
                    </a:p>
                  </a:txBody>
                  <a:tcPr marL="109728" marR="109728" anchor="ctr">
                    <a:solidFill>
                      <a:srgbClr val="59C05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Mencari blok &gt;= atau &lt;=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Tidak ketemu di palet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Pakai not, atau geser nilainya satu angka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Menampilkan variabel tanpa join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Hanya angka polos tanpa keterangan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Bungkus dengan join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Hasil pembagian panjang sekali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Muncul 3.3333333333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Bungkus dengan round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Mengira letter mulai dari 0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Huruf meleset satu posisi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Penomoran Scratch mulai dari 1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Tertukar and dan or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Kondisi tidak pernah / selalu terpenuhi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Gunakan tabel kebenaran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Latihan Bertingkat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5547207"/>
                <a:gridCol w="4215877"/>
              </a:tblGrid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09728" marR="109728" anchor="ctr">
                    <a:solidFill>
                      <a:srgbClr val="59C0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Tantangan</a:t>
                      </a:r>
                    </a:p>
                  </a:txBody>
                  <a:tcPr marL="109728" marR="109728" anchor="ctr">
                    <a:solidFill>
                      <a:srgbClr val="59C0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Blok kunci</a:t>
                      </a:r>
                    </a:p>
                  </a:txBody>
                  <a:tcPr marL="109728" marR="109728" anchor="ctr">
                    <a:solidFill>
                      <a:srgbClr val="59C05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Kalkulator penjumlahan dua bilangan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ask, +, join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Lempar dadu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pick random (1) to (6)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Tentukan bilangan genap atau ganjil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mod, =, if-else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Kuis dengan skor dan pesan lulus / tidak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=, &gt;, and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bergerak ke posisi acak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pick random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Mengeja kata satu huruf per detik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letter () of, length of, repeat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Gerak melingkar mengelilingi titik pusat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sin, cos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1.  Blok apa yang dipakai untuk mengecek bilangan genap atau ganjil? Tuliskan kondisinya.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2.  Scratch tidak punya blok &gt;=. Bagaimana menuliskan "skor &gt;= 10"?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3.  Apa hasil letter (3) of [Scratch]?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4.  Kamu ingin menampilkan "Skor: 25". Blok apa yang dibutuhkan?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5.  Apakah [Jakarta] = [jakarta] bernilai benar atau salah?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0EDD0"/>
                </a:solidFill>
                <a:latin typeface="Arial"/>
              </a:rP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1.  mod — kondisinya &lt;((angka) mod (2)) = (0)&gt; untuk bilangan genap.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2.  &lt;not &lt;(skor) &lt; (10)&gt;&gt;, atau untuk bilangan bulat cukup &lt;(skor) &gt; (9)&gt;.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3.  Huruf r (penomoran mulai dari 1: S-c-r).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4.  say (join [Skor: ] (skor)).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5.  BENAR — perbandingan teks di Scratch tidak membedakan huruf besar-kecil.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Operators (Operator)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9C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AF1DA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Semua blok Operators harus dimasukkan ke lubang blok lain, tidak bisa berdiri sendiri.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Tidak ada &gt;= dan &lt;= — siasati dengan not atau geser satu angka.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join adalah blok wajib untuk menampilkan kalimat yang memuat variabel.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